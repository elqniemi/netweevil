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69680" y="-1188720"/>
            <a:ext cx="5120640" cy="5120640"/>
          </a:xfrm>
          <a:prstGeom prst="roundRect">
            <a:avLst>
              <a:gd name="adj" fmla="val 50000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84080" y="-548640"/>
            <a:ext cx="3840480" cy="384048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502920" cy="9144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7510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2DE5A0"/>
                </a:solidFill>
                <a:latin typeface="Arial"/>
              </a:rPr>
              <a:t>A PERSONAL NETWORK-ANALYSIS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32304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7400" b="1" i="0">
                <a:solidFill>
                  <a:srgbClr val="ECF1F8"/>
                </a:solidFill>
                <a:latin typeface="Arial"/>
              </a:rPr>
              <a:t>netweevil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8444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0" i="0">
                <a:solidFill>
                  <a:srgbClr val="ECF1F8"/>
                </a:solidFill>
                <a:latin typeface="Arial"/>
              </a:rPr>
              <a:t>A local network-analysis engine I built for my own routing research.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2452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50" b="0" i="0">
                <a:solidFill>
                  <a:srgbClr val="93A2B8"/>
                </a:solidFill>
                <a:latin typeface="Arial"/>
              </a:rPr>
              <a:t>It does not replace OSRM, Valhalla, pgRouting, or QNEAT3. Each of those is better at what it was built for. netweevil exists to solve a specific set of problems I kept running into.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49240"/>
            <a:ext cx="1874519" cy="420624"/>
          </a:xfrm>
          <a:prstGeom prst="roundRect">
            <a:avLst>
              <a:gd name="adj" fmla="val 50000"/>
            </a:avLst>
          </a:prstGeom>
          <a:solidFill>
            <a:srgbClr val="162032"/>
          </a:solidFill>
          <a:ln w="12700">
            <a:solidFill>
              <a:srgbClr val="2D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1874519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DE5A0"/>
                </a:solidFill>
                <a:latin typeface="Arial"/>
              </a:rPr>
              <a:t>Rust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5349240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162032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5349240"/>
            <a:ext cx="1691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4FC3F7"/>
                </a:solidFill>
                <a:latin typeface="Arial"/>
              </a:rPr>
              <a:t>HTTP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534924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162032"/>
          </a:solidFill>
          <a:ln w="12700">
            <a:solidFill>
              <a:srgbClr val="FF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5349240"/>
            <a:ext cx="2148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FC14E"/>
                </a:solidFill>
                <a:latin typeface="Arial"/>
              </a:rPr>
              <a:t>QGIS plugin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5349240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162032"/>
          </a:solidFill>
          <a:ln w="12700">
            <a:solidFill>
              <a:srgbClr val="ECF1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5349240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ECF1F8"/>
                </a:solidFill>
                <a:latin typeface="Arial"/>
              </a:rPr>
              <a:t>Reproducible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99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1">
                <a:solidFill>
                  <a:srgbClr val="5A687C"/>
                </a:solidFill>
                <a:latin typeface="Arial"/>
              </a:rPr>
              <a:t>Built on the shoulders of OpenStreetMap, the routing-research community, and decades of open-source GIS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WHY I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A pile of recurring 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 i="0">
                <a:solidFill>
                  <a:srgbClr val="93A2B8"/>
                </a:solidFill>
                <a:latin typeface="Arial"/>
              </a:rPr>
              <a:t>Across years of network-analysis work, the same kinds of requests kept coming back, and most were awkward to answer reproducibly: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6355080" cy="548640"/>
          </a:xfrm>
          <a:prstGeom prst="roundRect">
            <a:avLst>
              <a:gd name="adj" fmla="val 14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82296" cy="54864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989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1">
                <a:solidFill>
                  <a:srgbClr val="ECF1F8"/>
                </a:solidFill>
                <a:latin typeface="Arial"/>
              </a:rPr>
              <a:t>“Route an ambulance, but trust nothing on bad surfaces.”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08376"/>
            <a:ext cx="6355080" cy="548640"/>
          </a:xfrm>
          <a:prstGeom prst="roundRect">
            <a:avLst>
              <a:gd name="adj" fmla="val 14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008376"/>
            <a:ext cx="82296" cy="54864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5989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1">
                <a:solidFill>
                  <a:srgbClr val="ECF1F8"/>
                </a:solidFill>
                <a:latin typeface="Arial"/>
              </a:rPr>
              <a:t>“Give me the same answer every time, and show how you got it.”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85032"/>
            <a:ext cx="6355080" cy="548640"/>
          </a:xfrm>
          <a:prstGeom prst="roundRect">
            <a:avLst>
              <a:gd name="adj" fmla="val 14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685032"/>
            <a:ext cx="82296" cy="54864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85032"/>
            <a:ext cx="5989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1">
                <a:solidFill>
                  <a:srgbClr val="ECF1F8"/>
                </a:solidFill>
                <a:latin typeface="Arial"/>
              </a:rPr>
              <a:t>“Respect that no-left-turn-from-this-lane via-way restriction.”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361688"/>
            <a:ext cx="6355080" cy="548640"/>
          </a:xfrm>
          <a:prstGeom prst="roundRect">
            <a:avLst>
              <a:gd name="adj" fmla="val 14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361688"/>
            <a:ext cx="82296" cy="54864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61688"/>
            <a:ext cx="5989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1">
                <a:solidFill>
                  <a:srgbClr val="ECF1F8"/>
                </a:solidFill>
                <a:latin typeface="Arial"/>
              </a:rPr>
              <a:t>“Pedestrian and bus together, as one journey.”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038344"/>
            <a:ext cx="6355080" cy="548640"/>
          </a:xfrm>
          <a:prstGeom prst="roundRect">
            <a:avLst>
              <a:gd name="adj" fmla="val 14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5038344"/>
            <a:ext cx="82296" cy="54864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38344"/>
            <a:ext cx="59893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1">
                <a:solidFill>
                  <a:srgbClr val="ECF1F8"/>
                </a:solidFill>
                <a:latin typeface="Arial"/>
              </a:rPr>
              <a:t>“Now simulate 600 cars in the morning peak and show the jams.”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1737360"/>
            <a:ext cx="4160520" cy="3703320"/>
          </a:xfrm>
          <a:prstGeom prst="roundRect">
            <a:avLst>
              <a:gd name="adj" fmla="val 6000"/>
            </a:avLst>
          </a:prstGeom>
          <a:solidFill>
            <a:srgbClr val="101826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1993392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FC14E"/>
                </a:solidFill>
                <a:latin typeface="Arial"/>
              </a:rPr>
              <a:t>WHY A NEW TOOL, NOT A FORK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487168"/>
            <a:ext cx="3520440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350" b="0" i="0">
                <a:solidFill>
                  <a:srgbClr val="93A2B8"/>
                </a:solidFill>
                <a:latin typeface="Arial"/>
              </a:rPr>
              <a:t>Answering these in OSRM or Valhalla usually meant editing C++ or Lua and re-preprocessing. In pgRouting it meant a PostGIS stack and SQL per question. In QNEAT3 it meant waiting on Python Dijkstra.</a:t>
            </a:r>
          </a:p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700" b="0" i="0">
                <a:solidFill>
                  <a:srgbClr val="93A2B8"/>
                </a:solidFill>
                <a:latin typeface="Arial"/>
              </a:rPr>
              <a:t/>
            </a:r>
          </a:p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350" b="0" i="0">
                <a:solidFill>
                  <a:srgbClr val="ECF1F8"/>
                </a:solidFill>
                <a:latin typeface="Arial"/>
              </a:rPr>
              <a:t>All of those are reasonable. None gave me one workflow where every parameter stayed explainable and every run stayed reproducible for a paper.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An analysis engine, not a production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400" b="0" i="0">
                <a:solidFill>
                  <a:srgbClr val="93A2B8"/>
                </a:solidFill>
                <a:latin typeface="Arial"/>
              </a:rPr>
              <a:t>A Rust-first local system for OSM routing research, reproducible analysis, transit experiments, and traffic simulation.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12848"/>
            <a:ext cx="2670048" cy="2907792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2670048" cy="9144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2DE5A0"/>
                </a:solidFill>
                <a:latin typeface="Arial"/>
              </a:rPr>
              <a:t>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5A687C"/>
                </a:solidFill>
                <a:latin typeface="Arial"/>
              </a:rPr>
              <a:t>netweevil binary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383280"/>
            <a:ext cx="2157984" cy="18288"/>
          </a:xfrm>
          <a:prstGeom prst="rect">
            <a:avLst/>
          </a:prstGeom>
          <a:solidFill>
            <a:srgbClr val="26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9584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0" i="0">
                <a:solidFill>
                  <a:srgbClr val="93A2B8"/>
                </a:solidFill>
                <a:latin typeface="Arial"/>
              </a:rPr>
              <a:t>Scriptable, deterministic, CI-friendly. Import, compile, analyze, simulate, report.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2212848"/>
            <a:ext cx="2670048" cy="2907792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93008" y="2212848"/>
            <a:ext cx="2670048" cy="9144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542032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4FC3F7"/>
                </a:solidFill>
                <a:latin typeface="Arial"/>
              </a:rPr>
              <a:t>HTTP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980944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5A687C"/>
                </a:solidFill>
                <a:latin typeface="Arial"/>
              </a:rPr>
              <a:t>Axum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3383280"/>
            <a:ext cx="2157984" cy="18288"/>
          </a:xfrm>
          <a:prstGeom prst="rect">
            <a:avLst/>
          </a:prstGeom>
          <a:solidFill>
            <a:srgbClr val="26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3529584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0" i="0">
                <a:solidFill>
                  <a:srgbClr val="93A2B8"/>
                </a:solidFill>
                <a:latin typeface="Arial"/>
              </a:rPr>
              <a:t>Datasets and profiles held in memory. JSON or GeoJSON, ready for the plugin or a notebook.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2212848"/>
            <a:ext cx="2670048" cy="2907792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2212848"/>
            <a:ext cx="2670048" cy="91440"/>
          </a:xfrm>
          <a:prstGeom prst="rect">
            <a:avLst/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542032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FFC14E"/>
                </a:solidFill>
                <a:latin typeface="Arial"/>
              </a:rPr>
              <a:t>QGIS PLUGIN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80944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5A687C"/>
                </a:solidFill>
                <a:latin typeface="Arial"/>
              </a:rPr>
              <a:t>QGIS 3.28 to 4.99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383280"/>
            <a:ext cx="2157984" cy="18288"/>
          </a:xfrm>
          <a:prstGeom prst="rect">
            <a:avLst/>
          </a:prstGeom>
          <a:solidFill>
            <a:srgbClr val="26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529584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0" i="0">
                <a:solidFill>
                  <a:srgbClr val="93A2B8"/>
                </a:solidFill>
                <a:latin typeface="Arial"/>
              </a:rPr>
              <a:t>Route, OD, matrix, service-area, transit and live simulation loaded as grouped layers.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62288" y="2212848"/>
            <a:ext cx="2670048" cy="2907792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62288" y="2212848"/>
            <a:ext cx="2670048" cy="91440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19" y="2542032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ECF1F8"/>
                </a:solidFill>
                <a:latin typeface="Arial"/>
              </a:rPr>
              <a:t>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2980944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5A687C"/>
                </a:solidFill>
                <a:latin typeface="Arial"/>
              </a:rPr>
              <a:t>Manifests and exports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19" y="3383280"/>
            <a:ext cx="2157984" cy="18288"/>
          </a:xfrm>
          <a:prstGeom prst="rect">
            <a:avLst/>
          </a:prstGeom>
          <a:solidFill>
            <a:srgbClr val="26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19" y="3529584"/>
            <a:ext cx="221284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0" i="0">
                <a:solidFill>
                  <a:srgbClr val="93A2B8"/>
                </a:solidFill>
                <a:latin typeface="Arial"/>
              </a:rPr>
              <a:t>Run manifests plus GeoJSON, CSV, GPKG, Parquet, GeoParquet you can defend later.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13248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101826"/>
          </a:solidFill>
          <a:ln w="12700">
            <a:solidFill>
              <a:srgbClr val="FF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413248"/>
            <a:ext cx="10332720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50" b="1" i="0">
                <a:solidFill>
                  <a:srgbClr val="ECF1F8"/>
                </a:solidFill>
                <a:latin typeface="Arial"/>
              </a:rPr>
              <a:t>It is built to be an analysis engine for research and study work. </a:t>
            </a:r>
            <a:r>
              <a:rPr sz="1300" b="0" i="0">
                <a:solidFill>
                  <a:srgbClr val="93A2B8"/>
                </a:solidFill>
                <a:latin typeface="Arial"/>
              </a:rPr>
              <a:t>You could run it behind an app, but that is not the goal. The goal is that every parameter is explainable and tunable, and the output is shaped to whatever a network analysis needs.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THE ROUTING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Exact results at interactive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63093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00" b="0" i="0">
                <a:solidFill>
                  <a:srgbClr val="93A2B8"/>
                </a:solidFill>
                <a:latin typeface="Arial"/>
              </a:rPr>
              <a:t>Many accelerators trade a little accuracy for speed. netweevil's edge-based </a:t>
            </a:r>
            <a:r>
              <a:rPr sz="1400" b="1" i="0">
                <a:solidFill>
                  <a:srgbClr val="ECF1F8"/>
                </a:solidFill>
                <a:latin typeface="Arial"/>
              </a:rPr>
              <a:t>Customizable Contraction Hierarchy</a:t>
            </a:r>
            <a:r>
              <a:rPr sz="1400" b="0" i="0">
                <a:solidFill>
                  <a:srgbClr val="93A2B8"/>
                </a:solidFill>
                <a:latin typeface="Arial"/>
              </a:rPr>
              <a:t> returns the same route as a brute-force shortest path, checked route for route against my own exact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0720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706624"/>
            <a:ext cx="599846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No shortcut budgets.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The hierarchy is built by a complete elimination game. Nothing is dropped to fit a memory cap, so exactness is preserved.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93591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493008"/>
            <a:ext cx="599846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Per-direction termination.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A correct bidirectional stopping rule for hierarchy search, with no silent under-search.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3799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279392"/>
            <a:ext cx="599846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Restrictions survive.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Turn and via-way restrictions are honoured, with an automaton A* fallback for the rare violating candidate.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783080"/>
            <a:ext cx="4224528" cy="3931920"/>
          </a:xfrm>
          <a:prstGeom prst="roundRect">
            <a:avLst>
              <a:gd name="adj" fmla="val 6000"/>
            </a:avLst>
          </a:prstGeom>
          <a:solidFill>
            <a:srgbClr val="101826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029968"/>
            <a:ext cx="422452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687C"/>
                </a:solidFill>
                <a:latin typeface="Arial"/>
              </a:rPr>
              <a:t>GRONINGEN PROVINCE, 1.02M EDGE 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487168"/>
            <a:ext cx="422452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93A2B8"/>
                </a:solidFill>
                <a:latin typeface="Arial"/>
              </a:rPr>
              <a:t>Median route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816352"/>
            <a:ext cx="2057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sz="4600" b="1" i="0">
                <a:solidFill>
                  <a:srgbClr val="93A2B8"/>
                </a:solidFill>
                <a:latin typeface="Arial"/>
              </a:rPr>
              <a:t>131</a:t>
            </a:r>
          </a:p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sz="1500" b="1" i="0">
                <a:solidFill>
                  <a:srgbClr val="5A687C"/>
                </a:solidFill>
                <a:latin typeface="Arial"/>
              </a:rPr>
              <a:t>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82112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2DE5A0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816352"/>
            <a:ext cx="2057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sz="4600" b="1" i="0">
                <a:solidFill>
                  <a:srgbClr val="2DE5A0"/>
                </a:solidFill>
                <a:latin typeface="Arial"/>
              </a:rPr>
              <a:t>2.9</a:t>
            </a:r>
          </a:p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sz="1500" b="1" i="0">
                <a:solidFill>
                  <a:srgbClr val="2DE5A0"/>
                </a:solidFill>
                <a:latin typeface="Arial"/>
              </a:rPr>
              <a:t>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4096512"/>
            <a:ext cx="3566160" cy="18288"/>
          </a:xfrm>
          <a:prstGeom prst="rect">
            <a:avLst/>
          </a:prstGeom>
          <a:solidFill>
            <a:srgbClr val="26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4261104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600" b="1" i="0">
                <a:solidFill>
                  <a:srgbClr val="ECF1F8"/>
                </a:solidFill>
                <a:latin typeface="Arial"/>
              </a:rPr>
              <a:t>about 45x faster</a:t>
            </a:r>
            <a:r>
              <a:rPr sz="1250" b="0" i="0">
                <a:solidFill>
                  <a:srgbClr val="93A2B8"/>
                </a:solidFill>
                <a:latin typeface="Arial"/>
              </a:rPr>
              <a:t>  than my brute-force engine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50" b="0" i="0">
                <a:solidFill>
                  <a:srgbClr val="93A2B8"/>
                </a:solidFill>
                <a:latin typeface="Arial"/>
              </a:rPr>
              <a:t>p99 around 13 ms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1">
                <a:solidFill>
                  <a:srgbClr val="2DE5A0"/>
                </a:solidFill>
                <a:latin typeface="Arial"/>
              </a:rPr>
              <a:t>Differential-identical summaries vs ground truth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COST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Cost models are data you can tune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60350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00" b="0" i="0">
                <a:solidFill>
                  <a:srgbClr val="93A2B8"/>
                </a:solidFill>
                <a:latin typeface="Arial"/>
              </a:rPr>
              <a:t>Speeds, surface and smoothness factors, turn penalties, ferries, tolls, and preferences live in a </a:t>
            </a:r>
            <a:r>
              <a:rPr sz="1400" b="1" i="0">
                <a:solidFill>
                  <a:srgbClr val="2DE5A0"/>
                </a:solidFill>
                <a:latin typeface="Arial"/>
              </a:rPr>
              <a:t>plain YAML profile</a:t>
            </a:r>
            <a:r>
              <a:rPr sz="1400" b="0" i="0">
                <a:solidFill>
                  <a:srgbClr val="93A2B8"/>
                </a:solidFill>
                <a:latin typeface="Arial"/>
              </a:rPr>
              <a:t>. Edit it, compile in seconds, route. No engine rebuild, so every parameter in a study stays visible and version-controlled.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063240"/>
            <a:ext cx="681228" cy="402336"/>
          </a:xfrm>
          <a:prstGeom prst="roundRect">
            <a:avLst>
              <a:gd name="adj" fmla="val 50000"/>
            </a:avLst>
          </a:prstGeom>
          <a:solidFill>
            <a:srgbClr val="162032"/>
          </a:solidFill>
          <a:ln w="12700">
            <a:solidFill>
              <a:srgbClr val="2D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063240"/>
            <a:ext cx="681228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DE5A0"/>
                </a:solidFill>
                <a:latin typeface="Arial"/>
              </a:rPr>
              <a:t>car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85900" y="3063240"/>
            <a:ext cx="1312164" cy="402336"/>
          </a:xfrm>
          <a:prstGeom prst="roundRect">
            <a:avLst>
              <a:gd name="adj" fmla="val 50000"/>
            </a:avLst>
          </a:prstGeom>
          <a:solidFill>
            <a:srgbClr val="162032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5900" y="3063240"/>
            <a:ext cx="1312164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F6B6B"/>
                </a:solidFill>
                <a:latin typeface="Arial"/>
              </a:rPr>
              <a:t>ambulance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3063240"/>
            <a:ext cx="1101852" cy="402336"/>
          </a:xfrm>
          <a:prstGeom prst="roundRect">
            <a:avLst>
              <a:gd name="adj" fmla="val 50000"/>
            </a:avLst>
          </a:prstGeom>
          <a:solidFill>
            <a:srgbClr val="162032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3063240"/>
            <a:ext cx="1101852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4FC3F7"/>
                </a:solidFill>
                <a:latin typeface="Arial"/>
              </a:rPr>
              <a:t>bicycle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2524" y="306324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162032"/>
          </a:solidFill>
          <a:ln w="12700">
            <a:solidFill>
              <a:srgbClr val="FF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92524" y="3063240"/>
            <a:ext cx="1417320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FC14E"/>
                </a:solidFill>
                <a:latin typeface="Arial"/>
              </a:rPr>
              <a:t>pedestrian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5661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1">
                <a:solidFill>
                  <a:srgbClr val="5A687C"/>
                </a:solidFill>
                <a:latin typeface="Arial"/>
              </a:rPr>
              <a:t>plus rush-hour variants, or any mode you 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950208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00" b="1" i="0">
                <a:solidFill>
                  <a:srgbClr val="ECF1F8"/>
                </a:solidFill>
                <a:latin typeface="Arial"/>
              </a:rPr>
              <a:t>Same engine, different YAML.</a:t>
            </a:r>
          </a:p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0" i="0">
                <a:solidFill>
                  <a:srgbClr val="93A2B8"/>
                </a:solidFill>
                <a:latin typeface="Arial"/>
              </a:rPr>
              <a:t>The ambulance profile raises motorway speed and trusts tolls fully, then collapses speed on bad or impassable surfaces, written as rules a reviewer can read. A new mode for a one-off study is a file you can drop into a paper's appendix.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737360"/>
            <a:ext cx="4572000" cy="4160520"/>
          </a:xfrm>
          <a:prstGeom prst="roundRect">
            <a:avLst>
              <a:gd name="adj" fmla="val 5000"/>
            </a:avLst>
          </a:prstGeom>
          <a:solidFill>
            <a:srgbClr val="0A0F18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19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687C"/>
                </a:solidFill>
                <a:latin typeface="Arial"/>
              </a:rPr>
              <a:t>ambulance_emergency_call_v1.yml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240280"/>
            <a:ext cx="41605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DE5A0"/>
                </a:solidFill>
                <a:latin typeface="Courier New"/>
              </a:rPr>
              <a:t>speed_rules: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3A2B8"/>
                </a:solidFill>
                <a:latin typeface="Courier New"/>
              </a:rPr>
              <a:t>  - match: { highway: motorway }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3A2B8"/>
                </a:solidFill>
                <a:latin typeface="Courier New"/>
              </a:rPr>
              <a:t>    speed_kph: </a:t>
            </a:r>
            <a:r>
              <a:rPr sz="1200">
                <a:solidFill>
                  <a:srgbClr val="FFC14E"/>
                </a:solidFill>
                <a:latin typeface="Courier New"/>
              </a:rPr>
              <a:t>150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DE5A0"/>
                </a:solidFill>
                <a:latin typeface="Courier New"/>
              </a:rPr>
              <a:t>factors: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3A2B8"/>
                </a:solidFill>
                <a:latin typeface="Courier New"/>
              </a:rPr>
              <a:t>  - match: { surface: sand }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3A2B8"/>
                </a:solidFill>
                <a:latin typeface="Courier New"/>
              </a:rPr>
              <a:t>    speed_factor: </a:t>
            </a:r>
            <a:r>
              <a:rPr sz="1200">
                <a:solidFill>
                  <a:srgbClr val="FFC14E"/>
                </a:solidFill>
                <a:latin typeface="Courier New"/>
              </a:rPr>
              <a:t>0.25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3A2B8"/>
                </a:solidFill>
                <a:latin typeface="Courier New"/>
              </a:rPr>
              <a:t>  - match: { smoothness: impassable }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3A2B8"/>
                </a:solidFill>
                <a:latin typeface="Courier New"/>
              </a:rPr>
              <a:t>    speed_factor: </a:t>
            </a:r>
            <a:r>
              <a:rPr sz="1200">
                <a:solidFill>
                  <a:srgbClr val="FFC14E"/>
                </a:solidFill>
                <a:latin typeface="Courier New"/>
              </a:rPr>
              <a:t>0.08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DE5A0"/>
                </a:solidFill>
                <a:latin typeface="Courier New"/>
              </a:rPr>
              <a:t>turns: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3A2B8"/>
                </a:solidFill>
                <a:latin typeface="Courier New"/>
              </a:rPr>
              <a:t>  uturn_penalty_s: </a:t>
            </a:r>
            <a:r>
              <a:rPr sz="1200">
                <a:solidFill>
                  <a:srgbClr val="4FC3F7"/>
                </a:solidFill>
                <a:latin typeface="Courier New"/>
              </a:rPr>
              <a:t>12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DE5A0"/>
                </a:solidFill>
                <a:latin typeface="Courier New"/>
              </a:rPr>
              <a:t>preferences: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3A2B8"/>
                </a:solidFill>
                <a:latin typeface="Courier New"/>
              </a:rPr>
              <a:t>  use_tolls: </a:t>
            </a:r>
            <a:r>
              <a:rPr sz="1200">
                <a:solidFill>
                  <a:srgbClr val="4FC3F7"/>
                </a:solidFill>
                <a:latin typeface="Courier New"/>
              </a:rPr>
              <a:t>1.0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DE5A0"/>
                </a:solidFill>
                <a:latin typeface="Courier New"/>
              </a:rPr>
              <a:t>returns: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93A2B8"/>
                </a:solidFill>
                <a:latin typeface="Courier New"/>
              </a:rPr>
              <a:t>  explain_cost_derivation: </a:t>
            </a:r>
            <a:r>
              <a:rPr sz="1200">
                <a:solidFill>
                  <a:srgbClr val="FFC14E"/>
                </a:solidFill>
                <a:latin typeface="Courier New"/>
              </a:rPr>
              <a:t>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DEFENSIBLE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Costs that explain themselves, output you 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400" b="0" i="0">
                <a:solidFill>
                  <a:srgbClr val="93A2B8"/>
                </a:solidFill>
                <a:latin typeface="Arial"/>
              </a:rPr>
              <a:t>Turn on </a:t>
            </a:r>
            <a:r>
              <a:rPr sz="1400" b="1" i="0">
                <a:solidFill>
                  <a:srgbClr val="2DE5A0"/>
                </a:solidFill>
                <a:latin typeface="Courier New"/>
              </a:rPr>
              <a:t>penalty_breakdown</a:t>
            </a:r>
            <a:r>
              <a:rPr sz="1400" b="0" i="0">
                <a:solidFill>
                  <a:srgbClr val="93A2B8"/>
                </a:solidFill>
                <a:latin typeface="Arial"/>
              </a:rPr>
              <a:t> and </a:t>
            </a:r>
            <a:r>
              <a:rPr sz="1400" b="1" i="0">
                <a:solidFill>
                  <a:srgbClr val="2DE5A0"/>
                </a:solidFill>
                <a:latin typeface="Courier New"/>
              </a:rPr>
              <a:t>explain_cost_derivation</a:t>
            </a:r>
            <a:r>
              <a:rPr sz="1400" b="0" i="0">
                <a:solidFill>
                  <a:srgbClr val="93A2B8"/>
                </a:solidFill>
                <a:latin typeface="Arial"/>
              </a:rPr>
              <a:t>, and every second and metre is attributed back to where it came from. A </a:t>
            </a:r>
            <a:r>
              <a:rPr sz="1400" b="1" i="0">
                <a:solidFill>
                  <a:srgbClr val="2DE5A0"/>
                </a:solidFill>
                <a:latin typeface="Courier New"/>
              </a:rPr>
              <a:t>returns</a:t>
            </a:r>
            <a:r>
              <a:rPr sz="1400" b="0" i="0">
                <a:solidFill>
                  <a:srgbClr val="93A2B8"/>
                </a:solidFill>
                <a:latin typeface="Arial"/>
              </a:rPr>
              <a:t> block lets each request ask for exactly the columns the analysis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542032"/>
            <a:ext cx="2670048" cy="246888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788920"/>
            <a:ext cx="457200" cy="4572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D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2DE5A0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Road-type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221284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Time and distance split across motorway, primary, residential, and so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2542032"/>
            <a:ext cx="2670048" cy="246888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49040" y="2788920"/>
            <a:ext cx="457200" cy="4572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788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4FC3F7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383280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Surface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950208"/>
            <a:ext cx="221284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How much of the trip ran on cobblestone, gravel, or asphalt.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542032"/>
            <a:ext cx="2670048" cy="246888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2788920"/>
            <a:ext cx="457200" cy="4572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788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C14E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83280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Penalty breakdown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50208"/>
            <a:ext cx="221284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Left turns, U-turns, signals, roundabouts, each on its own 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2542032"/>
            <a:ext cx="2670048" cy="246888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18319" y="2788920"/>
            <a:ext cx="457200" cy="4572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2788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6B6B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3383280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You shape the 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3950208"/>
            <a:ext cx="221284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Geometry none, full, or segments. Segment rows and breakdowns only when asked.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376672"/>
            <a:ext cx="10881360" cy="713232"/>
          </a:xfrm>
          <a:prstGeom prst="roundRect">
            <a:avLst>
              <a:gd name="adj" fmla="val 10000"/>
            </a:avLst>
          </a:prstGeom>
          <a:solidFill>
            <a:srgbClr val="101826"/>
          </a:solidFill>
          <a:ln w="12700">
            <a:solidFill>
              <a:srgbClr val="2D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376672"/>
            <a:ext cx="1042416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 i="0">
                <a:solidFill>
                  <a:srgbClr val="2DE5A0"/>
                </a:solidFill>
                <a:latin typeface="Arial"/>
              </a:rPr>
              <a:t>This is the reason netweevil exists. </a:t>
            </a:r>
            <a:r>
              <a:rPr sz="1350" b="0" i="0">
                <a:solidFill>
                  <a:srgbClr val="ECF1F8"/>
                </a:solidFill>
                <a:latin typeface="Arial"/>
              </a:rPr>
              <a:t>Results that survive peer review, where nobody has to take the router's word for anything.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ANALYSIS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A full network-analysis toolbox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246120" cy="1024128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9384"/>
            <a:ext cx="73152" cy="73152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93A2B8"/>
                </a:solidFill>
                <a:latin typeface="Arial"/>
              </a:rPr>
              <a:t>Single shortest path, with alternatives and full geometry.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8" y="1783080"/>
            <a:ext cx="3246120" cy="1024128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87368" y="1929384"/>
            <a:ext cx="73152" cy="73152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92024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Route-batch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2860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93A2B8"/>
                </a:solidFill>
                <a:latin typeface="Arial"/>
              </a:rPr>
              <a:t>Thousands of routes in one deterministic run.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44368"/>
            <a:ext cx="3246120" cy="1024128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090672"/>
            <a:ext cx="73152" cy="73152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081527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447287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93A2B8"/>
                </a:solidFill>
                <a:latin typeface="Arial"/>
              </a:rPr>
              <a:t>Origin to destination pairs from CSV or JSON.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8" y="2944368"/>
            <a:ext cx="3246120" cy="1024128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87368" y="3090672"/>
            <a:ext cx="73152" cy="73152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3081527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447287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93A2B8"/>
                </a:solidFill>
                <a:latin typeface="Arial"/>
              </a:rPr>
              <a:t>Many-to-many time and distance matrices.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105656"/>
            <a:ext cx="3246120" cy="1024128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251960"/>
            <a:ext cx="73152" cy="73152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242816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Service area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608576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93A2B8"/>
                </a:solidFill>
                <a:latin typeface="Arial"/>
              </a:rPr>
              <a:t>Isochrones and reachable network from one or many origins.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87368" y="4105656"/>
            <a:ext cx="3246120" cy="1024128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87368" y="4251960"/>
            <a:ext cx="73152" cy="73152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4242816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Accessibility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608576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93A2B8"/>
                </a:solidFill>
                <a:latin typeface="Arial"/>
              </a:rPr>
              <a:t>Who-can-reach-what scoring across the network.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1783080"/>
            <a:ext cx="3913632" cy="3886200"/>
          </a:xfrm>
          <a:prstGeom prst="roundRect">
            <a:avLst>
              <a:gd name="adj" fmla="val 4000"/>
            </a:avLst>
          </a:prstGeom>
          <a:solidFill>
            <a:srgbClr val="101826"/>
          </a:solidFill>
          <a:ln w="15875">
            <a:solidFill>
              <a:srgbClr val="2DE5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3122676"/>
            <a:ext cx="391363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QGIS MAP PLACEHOLDER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616452"/>
            <a:ext cx="3182112" cy="1943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93A2B8"/>
                </a:solidFill>
                <a:latin typeface="Arial"/>
              </a:rPr>
              <a:t>Service-area isochrone from a city-centre origin: nested 5, 10, and 15-minute reachable polygons over the OSM street network.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9831" y="1892807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>
                <a:solidFill>
                  <a:srgbClr val="5A687C"/>
                </a:solidFill>
                <a:latin typeface="Arial"/>
              </a:rPr>
              <a:t>FIG 7A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CORRECTNESS IN THE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Turn restrictions, including the hard 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612648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00" b="0" i="0">
                <a:solidFill>
                  <a:srgbClr val="93A2B8"/>
                </a:solidFill>
                <a:latin typeface="Arial"/>
              </a:rPr>
              <a:t>Simple no-left-turns are easy. The ones that quietly break routers are </a:t>
            </a:r>
            <a:r>
              <a:rPr sz="1400" b="1" i="0">
                <a:solidFill>
                  <a:srgbClr val="ECF1F8"/>
                </a:solidFill>
                <a:latin typeface="Arial"/>
              </a:rPr>
              <a:t>via-way restrictions</a:t>
            </a:r>
            <a:r>
              <a:rPr sz="1400" b="0" i="0">
                <a:solidFill>
                  <a:srgbClr val="93A2B8"/>
                </a:solidFill>
                <a:latin typeface="Arial"/>
              </a:rPr>
              <a:t>, where a manoeuvre is banned only along a specific approach and connector.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9900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889504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Multi-edge restriction sequences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Modelled as ordered edge sequences, beyond single-node turns.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73989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639312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Validated against the accelerator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The fast CCH candidate is checked against the restriction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4897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389120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Automaton A* fallback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Used only when a candidate would violate a restriction, so exactness costs nothing elsewhere.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5138928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Signals and penalties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Traffic-signal nodes and turn penalties fold straight into the cost.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783080"/>
            <a:ext cx="4160520" cy="3886200"/>
          </a:xfrm>
          <a:prstGeom prst="roundRect">
            <a:avLst>
              <a:gd name="adj" fmla="val 4000"/>
            </a:avLst>
          </a:prstGeom>
          <a:solidFill>
            <a:srgbClr val="101826"/>
          </a:solidFill>
          <a:ln w="15875">
            <a:solidFill>
              <a:srgbClr val="2DE5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3122676"/>
            <a:ext cx="4160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QGIS MAP PLACEHOLDER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616452"/>
            <a:ext cx="3429000" cy="1943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93A2B8"/>
                </a:solidFill>
                <a:latin typeface="Arial"/>
              </a:rPr>
              <a:t>Two routes for the same origin and destination: the naive path takes an illegal via-way turn (red), and netweevil's legal detour (green). Annotate the restricted manoeuvre.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892807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>
                <a:solidFill>
                  <a:srgbClr val="5A687C"/>
                </a:solidFill>
                <a:latin typeface="Arial"/>
              </a:rPr>
              <a:t>FIG 8A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4FC3F7"/>
                </a:solidFill>
                <a:latin typeface="Arial"/>
              </a:rPr>
              <a:t>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GTFS transit as part of the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6126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00" b="0" i="0">
                <a:solidFill>
                  <a:srgbClr val="93A2B8"/>
                </a:solidFill>
                <a:latin typeface="Arial"/>
              </a:rPr>
              <a:t>Import a GTFS feed, set a service date, and route </a:t>
            </a:r>
            <a:r>
              <a:rPr sz="1400" b="1" i="0">
                <a:solidFill>
                  <a:srgbClr val="4FC3F7"/>
                </a:solidFill>
                <a:latin typeface="Arial"/>
              </a:rPr>
              <a:t>pedestrian and transit together as one journey</a:t>
            </a:r>
            <a:r>
              <a:rPr sz="1400" b="0" i="0">
                <a:solidFill>
                  <a:srgbClr val="93A2B8"/>
                </a:solidFill>
                <a:latin typeface="Arial"/>
              </a:rPr>
              <a:t>. Walk to the stop, ride, transfer, walk to the door.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9443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843784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GTFS import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Persisted transit bundles with explicit service-date windows.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941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593591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Pedestrian and transit routing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Walking access and egress stitched to scheduled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4439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343400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Transit service areas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Time-of-day reachability, such as what is within 30 minutes by bus.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1937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5093208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Preload into the API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Serve a feed alongside the road dataset for the plugin.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783080"/>
            <a:ext cx="4160520" cy="3886200"/>
          </a:xfrm>
          <a:prstGeom prst="roundRect">
            <a:avLst>
              <a:gd name="adj" fmla="val 4000"/>
            </a:avLst>
          </a:prstGeom>
          <a:solidFill>
            <a:srgbClr val="101826"/>
          </a:solidFill>
          <a:ln w="15875">
            <a:solidFill>
              <a:srgbClr val="2DE5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3122676"/>
            <a:ext cx="4160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QGIS MAP PLACEHOLDER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616452"/>
            <a:ext cx="3429000" cy="1943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93A2B8"/>
                </a:solidFill>
                <a:latin typeface="Arial"/>
              </a:rPr>
              <a:t>Transit service area: 30-minute pedestrian and bus reachability from a stop at 08:00, shaded by travel time, with the GTFS stops overlaid.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892807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>
                <a:solidFill>
                  <a:srgbClr val="5A687C"/>
                </a:solidFill>
                <a:latin typeface="Arial"/>
              </a:rPr>
              <a:t>FIG 9A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C14E"/>
                </a:solidFill>
                <a:latin typeface="Arial"/>
              </a:rPr>
              <a:t>BEYOND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Agent-based traffic simulation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612648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00" b="0" i="0">
                <a:solidFill>
                  <a:srgbClr val="93A2B8"/>
                </a:solidFill>
                <a:latin typeface="Arial"/>
              </a:rPr>
              <a:t>Dispatch fleets of agents over the real network and watch congestion </a:t>
            </a:r>
            <a:r>
              <a:rPr sz="1400" b="1" i="0">
                <a:solidFill>
                  <a:srgbClr val="FFC14E"/>
                </a:solidFill>
                <a:latin typeface="Arial"/>
              </a:rPr>
              <a:t>emerge</a:t>
            </a:r>
            <a:r>
              <a:rPr sz="1400" b="0" i="0">
                <a:solidFill>
                  <a:srgbClr val="93A2B8"/>
                </a:solidFill>
                <a:latin typeface="Arial"/>
              </a:rPr>
              <a:t>. Greenshields or BPR flow, spillback queueing, live rerouting, zone effects, and temporal playback.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03580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935224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Fleets and demand   </a:t>
            </a:r>
            <a:r>
              <a:rPr sz="1200" b="0" i="0">
                <a:solidFill>
                  <a:srgbClr val="93A2B8"/>
                </a:solidFill>
                <a:latin typeface="Arial"/>
              </a:rPr>
              <a:t>Cars and bikes, peak or uniform departures, random or fixed 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2102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520440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Realistic flow   </a:t>
            </a:r>
            <a:r>
              <a:rPr sz="1200" b="0" i="0">
                <a:solidFill>
                  <a:srgbClr val="93A2B8"/>
                </a:solidFill>
                <a:latin typeface="Arial"/>
              </a:rPr>
              <a:t>Storage capacity, no-collision spillback, signal cycles.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2062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105656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Live rerouting   </a:t>
            </a:r>
            <a:r>
              <a:rPr sz="1200" b="0" i="0">
                <a:solidFill>
                  <a:srgbClr val="93A2B8"/>
                </a:solidFill>
                <a:latin typeface="Arial"/>
              </a:rPr>
              <a:t>Drivers escape jams on ranked alternatives mid-trip.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79145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690872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Zones and closures   </a:t>
            </a:r>
            <a:r>
              <a:rPr sz="1200" b="0" i="0">
                <a:solidFill>
                  <a:srgbClr val="93A2B8"/>
                </a:solidFill>
                <a:latin typeface="Arial"/>
              </a:rPr>
              <a:t>Slow zones, background load, event closures, even mid-run.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376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5276088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Temporal playback   </a:t>
            </a:r>
            <a:r>
              <a:rPr sz="1200" b="0" i="0">
                <a:solidFill>
                  <a:srgbClr val="93A2B8"/>
                </a:solidFill>
                <a:latin typeface="Arial"/>
              </a:rPr>
              <a:t>Frame-by-frame agent positions, animated in QGIS.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783080"/>
            <a:ext cx="4160520" cy="3886200"/>
          </a:xfrm>
          <a:prstGeom prst="roundRect">
            <a:avLst>
              <a:gd name="adj" fmla="val 4000"/>
            </a:avLst>
          </a:prstGeom>
          <a:solidFill>
            <a:srgbClr val="101826"/>
          </a:solidFill>
          <a:ln w="15875">
            <a:solidFill>
              <a:srgbClr val="2DE5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3122676"/>
            <a:ext cx="4160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QGIS MAP PLACEHOLDER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3616452"/>
            <a:ext cx="3429000" cy="1943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93A2B8"/>
                </a:solidFill>
                <a:latin typeface="Arial"/>
              </a:rPr>
              <a:t>Congestion snapshot at peak: edges coloured by speed ratio from free-flow to jam, with the city-centre slow zone outlined. Ideally a 2 to 3 frame strip for the carousel.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1892807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>
                <a:solidFill>
                  <a:srgbClr val="5A687C"/>
                </a:solidFill>
                <a:latin typeface="Arial"/>
              </a:rPr>
              <a:t>FIG 10A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DEFENSIBLE BY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Reproducible and defensible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400" b="0" i="0">
                <a:solidFill>
                  <a:srgbClr val="93A2B8"/>
                </a:solidFill>
                <a:latin typeface="Arial"/>
              </a:rPr>
              <a:t>Every analysis writes a </a:t>
            </a:r>
            <a:r>
              <a:rPr sz="1400" b="1" i="0">
                <a:solidFill>
                  <a:srgbClr val="2DE5A0"/>
                </a:solidFill>
                <a:latin typeface="Arial"/>
              </a:rPr>
              <a:t>manifest</a:t>
            </a:r>
            <a:r>
              <a:rPr sz="1400" b="0" i="0">
                <a:solidFill>
                  <a:srgbClr val="93A2B8"/>
                </a:solidFill>
                <a:latin typeface="Arial"/>
              </a:rPr>
              <a:t> that pins exactly what produced the result, so a number from a paper drafted months ago can be re-run and explained.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68880"/>
            <a:ext cx="2670048" cy="210312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411480" cy="73152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Source provenance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221284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OSM extract path and hash, import timestamps, bundle IDs.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2468880"/>
            <a:ext cx="2670048" cy="210312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40" y="2743200"/>
            <a:ext cx="411480" cy="73152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92608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Profile hashes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611880"/>
            <a:ext cx="221284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The exact compiled cost model behind the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2468880"/>
            <a:ext cx="2670048" cy="210312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2743200"/>
            <a:ext cx="411480" cy="73152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92608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Software versions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11880"/>
            <a:ext cx="221284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Engine and algorithm version (edge_based_cch_v2).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2468880"/>
            <a:ext cx="2670048" cy="210312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18319" y="2743200"/>
            <a:ext cx="411480" cy="73152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292608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Run metadata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3611880"/>
            <a:ext cx="221284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Request, parameters, timing, captured rather than implied.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56048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101826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033272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1" i="0">
                <a:solidFill>
                  <a:srgbClr val="2DE5A0"/>
                </a:solidFill>
                <a:latin typeface="Arial"/>
              </a:rPr>
              <a:t>No hidden UI-only state. </a:t>
            </a:r>
            <a:r>
              <a:rPr sz="1350" b="0" i="0">
                <a:solidFill>
                  <a:srgbClr val="ECF1F8"/>
                </a:solidFill>
                <a:latin typeface="Arial"/>
              </a:rPr>
              <a:t>Anything you can configure serializes to file-backed config, request payloads, response metadata, or a manifest. 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 i="1">
                <a:solidFill>
                  <a:srgbClr val="93A2B8"/>
                </a:solidFill>
                <a:latin typeface="Arial"/>
              </a:rPr>
              <a:t>That is what turns a demo into an instrument you can publish from.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C14E"/>
                </a:solidFill>
                <a:latin typeface="Arial"/>
              </a:rPr>
              <a:t>WHERE ANALYSTS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QGIS-native,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6126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00" b="0" i="0">
                <a:solidFill>
                  <a:srgbClr val="93A2B8"/>
                </a:solidFill>
                <a:latin typeface="Arial"/>
              </a:rPr>
              <a:t>Point the plugin at a running API and drive everything from inside QGIS. Results come back as </a:t>
            </a:r>
            <a:r>
              <a:rPr sz="1400" b="1" i="0">
                <a:solidFill>
                  <a:srgbClr val="FFC14E"/>
                </a:solidFill>
                <a:latin typeface="Arial"/>
              </a:rPr>
              <a:t>grouped, styled layers</a:t>
            </a:r>
            <a:r>
              <a:rPr sz="1400" b="0" i="0">
                <a:solidFill>
                  <a:srgbClr val="93A2B8"/>
                </a:solidFill>
                <a:latin typeface="Arial"/>
              </a:rPr>
              <a:t> you can map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9443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843784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Click-to-run workflows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Route, OD, matrix, service-area, transit, and simulation tabs.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9417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593591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Grouped layer output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JSON, GeoJSON, GPKG, and simulation frames land organised.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4439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343400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Live simulation tab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Watch a scenario play out frame by frame.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1937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5093208"/>
            <a:ext cx="5815584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CF1F8"/>
                </a:solidFill>
                <a:latin typeface="Arial"/>
              </a:rPr>
              <a:t>QGIS 3.28 to 4.99   </a:t>
            </a:r>
            <a:r>
              <a:rPr sz="1250" b="0" i="0">
                <a:solidFill>
                  <a:srgbClr val="93A2B8"/>
                </a:solidFill>
                <a:latin typeface="Arial"/>
              </a:rPr>
              <a:t>Packaged as a normal installable plugin.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783080"/>
            <a:ext cx="4160520" cy="3886200"/>
          </a:xfrm>
          <a:prstGeom prst="roundRect">
            <a:avLst>
              <a:gd name="adj" fmla="val 4000"/>
            </a:avLst>
          </a:prstGeom>
          <a:solidFill>
            <a:srgbClr val="101826"/>
          </a:solidFill>
          <a:ln w="15875">
            <a:solidFill>
              <a:srgbClr val="2DE5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3122676"/>
            <a:ext cx="4160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QGIS MAP PLACEHOLDER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616452"/>
            <a:ext cx="3429000" cy="1943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93A2B8"/>
                </a:solidFill>
                <a:latin typeface="Arial"/>
              </a:rPr>
              <a:t>QGIS screenshot: the netweevil plugin panel docked beside a styled route and service-area result, with the layer tree showing the grouped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892807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>
                <a:solidFill>
                  <a:srgbClr val="5A687C"/>
                </a:solidFill>
                <a:latin typeface="Arial"/>
              </a:rPr>
              <a:t>FIG 12A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DIFFERENT TOOLS, DIFFERENT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Where each of these is the right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029968" cy="324612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148840"/>
            <a:ext cx="2029968" cy="9144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450592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4FC3F7"/>
                </a:solidFill>
                <a:latin typeface="Arial"/>
              </a:rPr>
              <a:t>OSRM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2907792"/>
            <a:ext cx="365760" cy="5486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108960"/>
            <a:ext cx="164592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Fastest car routing at continental scale. Enormous query throughput, battle-tested, the reference for raw speed.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2148840"/>
            <a:ext cx="2029968" cy="324612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52928" y="2148840"/>
            <a:ext cx="2029968" cy="91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450592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FF6B6B"/>
                </a:solidFill>
                <a:latin typeface="Arial"/>
              </a:rPr>
              <a:t>Valhalla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2907792"/>
            <a:ext cx="36576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3108960"/>
            <a:ext cx="164592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Production multimodal routing across the globe. Tiled, dynamic costing, mature, running real services today.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2148840"/>
            <a:ext cx="2029968" cy="324612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47488" y="2148840"/>
            <a:ext cx="2029968" cy="91440"/>
          </a:xfrm>
          <a:prstGeom prst="rect">
            <a:avLst/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2450592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FFC14E"/>
                </a:solidFill>
                <a:latin typeface="Arial"/>
              </a:rPr>
              <a:t>pgRouting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48656" y="2907792"/>
            <a:ext cx="365760" cy="54864"/>
          </a:xfrm>
          <a:prstGeom prst="rect">
            <a:avLst/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48656" y="3108960"/>
            <a:ext cx="164592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Routing inside your database. Arbitrary graph queries in SQL with deep PostGIS integration.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42048" y="2148840"/>
            <a:ext cx="2029968" cy="3246120"/>
          </a:xfrm>
          <a:prstGeom prst="roundRect">
            <a:avLst>
              <a:gd name="adj" fmla="val 6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42048" y="2148840"/>
            <a:ext cx="2029968" cy="91440"/>
          </a:xfrm>
          <a:prstGeom prst="rect">
            <a:avLst/>
          </a:prstGeom>
          <a:solidFill>
            <a:srgbClr val="B9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6" y="2450592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B99AFF"/>
                </a:solidFill>
                <a:latin typeface="Arial"/>
              </a:rPr>
              <a:t>QNEAT3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43216" y="2907792"/>
            <a:ext cx="365760" cy="54864"/>
          </a:xfrm>
          <a:prstGeom prst="rect">
            <a:avLst/>
          </a:prstGeom>
          <a:solidFill>
            <a:srgbClr val="B9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3216" y="3108960"/>
            <a:ext cx="164592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Zero-setup network analysis inside QGIS. Open the plugin and go, with no services to run.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36608" y="2148840"/>
            <a:ext cx="2029968" cy="3246120"/>
          </a:xfrm>
          <a:prstGeom prst="roundRect">
            <a:avLst>
              <a:gd name="adj" fmla="val 6000"/>
            </a:avLst>
          </a:prstGeom>
          <a:solidFill>
            <a:srgbClr val="1B283E"/>
          </a:solidFill>
          <a:ln w="19050">
            <a:solidFill>
              <a:srgbClr val="2DE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36608" y="2148840"/>
            <a:ext cx="2029968" cy="9144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37776" y="2450592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7776" y="2907792"/>
            <a:ext cx="365760" cy="54864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37776" y="3108960"/>
            <a:ext cx="164592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0" i="0">
                <a:solidFill>
                  <a:srgbClr val="ECF1F8"/>
                </a:solidFill>
                <a:latin typeface="Arial"/>
              </a:rPr>
              <a:t>My research niche. Explainable, tunable, reproducible analysis with simulation, all from one local binary.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65099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1">
                <a:solidFill>
                  <a:srgbClr val="5A687C"/>
                </a:solidFill>
                <a:latin typeface="Arial"/>
              </a:rPr>
              <a:t>If you need production routing or web-scale throughput, the others win, and that is by design. netweevil is not trying to take their place.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THE NICHE IT FILLS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What I could not get anywhere else,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400" b="0" i="0">
                <a:solidFill>
                  <a:srgbClr val="93A2B8"/>
                </a:solidFill>
                <a:latin typeface="Arial"/>
              </a:rPr>
              <a:t>Any one of these exists somewhere. Having all of them in a single local engine aimed at research is the gap netweevil fills for 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10881360" cy="676656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91440" cy="676656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103327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Every cost parameter explainable and tunable.  </a:t>
            </a:r>
            <a:r>
              <a:rPr sz="1300" b="0" i="0">
                <a:solidFill>
                  <a:srgbClr val="93A2B8"/>
                </a:solidFill>
                <a:latin typeface="Arial"/>
              </a:rPr>
              <a:t>from a readable, version-controlled file a reviewer can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9815"/>
            <a:ext cx="10881360" cy="676656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099815"/>
            <a:ext cx="91440" cy="676656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99815"/>
            <a:ext cx="103327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Reproducible run manifests.  </a:t>
            </a:r>
            <a:r>
              <a:rPr sz="1300" b="0" i="0">
                <a:solidFill>
                  <a:srgbClr val="93A2B8"/>
                </a:solidFill>
                <a:latin typeface="Arial"/>
              </a:rPr>
              <a:t>with source, profile, and version hashes pinned to every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67911"/>
            <a:ext cx="10881360" cy="676656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867911"/>
            <a:ext cx="91440" cy="676656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67911"/>
            <a:ext cx="103327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Return shape you control per request.  </a:t>
            </a:r>
            <a:r>
              <a:rPr sz="1300" b="0" i="0">
                <a:solidFill>
                  <a:srgbClr val="93A2B8"/>
                </a:solidFill>
                <a:latin typeface="Arial"/>
              </a:rPr>
              <a:t>built for what an analysis needs, not for an app's render loop.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636007"/>
            <a:ext cx="10881360" cy="676656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636007"/>
            <a:ext cx="91440" cy="676656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636007"/>
            <a:ext cx="103327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Exact routing with restrictions, plus simulation.  </a:t>
            </a:r>
            <a:r>
              <a:rPr sz="1300" b="0" i="0">
                <a:solidFill>
                  <a:srgbClr val="93A2B8"/>
                </a:solidFill>
                <a:latin typeface="Arial"/>
              </a:rPr>
              <a:t>shortest paths and agent-based traffic in the same tool.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404103"/>
            <a:ext cx="10881360" cy="676656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5404103"/>
            <a:ext cx="91440" cy="676656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5404103"/>
            <a:ext cx="103327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ECF1F8"/>
                </a:solidFill>
                <a:latin typeface="Arial"/>
              </a:rPr>
              <a:t>All local, one binary.  </a:t>
            </a:r>
            <a:r>
              <a:rPr sz="1300" b="0" i="0">
                <a:solidFill>
                  <a:srgbClr val="93A2B8"/>
                </a:solidFill>
                <a:latin typeface="Arial"/>
              </a:rPr>
              <a:t>no database, tile server, or service to operate before you can ask a question.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58368"/>
            <a:ext cx="310896" cy="64008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DE5A0"/>
                </a:solidFill>
                <a:latin typeface="Arial"/>
              </a:rPr>
              <a:t>STANDING ON SHOULDERS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ECF1F8"/>
                </a:solidFill>
                <a:latin typeface="Arial"/>
              </a:rPr>
              <a:t>Thank you to the open-source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400" b="0" i="0">
                <a:solidFill>
                  <a:srgbClr val="93A2B8"/>
                </a:solidFill>
                <a:latin typeface="Arial"/>
              </a:rPr>
              <a:t>netweevil stands on a generation of open-source work. Without these projects, building something like this would not be thinkable.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514600"/>
            <a:ext cx="3502152" cy="155448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2752344"/>
            <a:ext cx="347472" cy="64008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9864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DE5A0"/>
                </a:solidFill>
                <a:latin typeface="Arial"/>
              </a:rPr>
              <a:t>DATA &amp; STANDARDS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27832"/>
            <a:ext cx="30449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OpenStreetMap, the GTFS specification, MobilityData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514600"/>
            <a:ext cx="3502152" cy="155448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81144" y="2752344"/>
            <a:ext cx="347472" cy="6400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289864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4FC3F7"/>
                </a:solidFill>
                <a:latin typeface="Arial"/>
              </a:rPr>
              <a:t>ROUTING &amp;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227832"/>
            <a:ext cx="30449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OSRM, Valhalla, pgRouting, OpenTripPlanner, the Contraction Hierarchies line, RoutingKit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2514600"/>
            <a:ext cx="3502152" cy="155448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6" y="2752344"/>
            <a:ext cx="347472" cy="64008"/>
          </a:xfrm>
          <a:prstGeom prst="rect">
            <a:avLst/>
          </a:prstGeom>
          <a:solidFill>
            <a:srgbClr val="FF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89864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FC14E"/>
                </a:solidFill>
                <a:latin typeface="Arial"/>
              </a:rPr>
              <a:t>GIS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227832"/>
            <a:ext cx="30449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QGIS and its community, QNEAT3 (Clemens Raffler)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51960"/>
            <a:ext cx="3502152" cy="155448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" y="4489704"/>
            <a:ext cx="347472" cy="6400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63600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F6B6B"/>
                </a:solidFill>
                <a:latin typeface="Arial"/>
              </a:rPr>
              <a:t>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965192"/>
            <a:ext cx="30449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SUMO (Eclipse / DLR), MATSim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251960"/>
            <a:ext cx="3502152" cy="155448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81144" y="4489704"/>
            <a:ext cx="347472" cy="64008"/>
          </a:xfrm>
          <a:prstGeom prst="rect">
            <a:avLst/>
          </a:prstGeom>
          <a:solidFill>
            <a:srgbClr val="B9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1144" y="463600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99AFF"/>
                </a:solidFill>
                <a:latin typeface="Arial"/>
              </a:rPr>
              <a:t>RUST ECOSYSTEM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144" y="4965192"/>
            <a:ext cx="30449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Tokio and Axum, Serde, Rayon, the geo and OSM crates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4251960"/>
            <a:ext cx="3502152" cy="1554480"/>
          </a:xfrm>
          <a:prstGeom prst="roundRect">
            <a:avLst>
              <a:gd name="adj" fmla="val 7000"/>
            </a:avLst>
          </a:prstGeom>
          <a:solidFill>
            <a:srgbClr val="162032"/>
          </a:solidFill>
          <a:ln w="12700">
            <a:solidFill>
              <a:srgbClr val="26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66176" y="4489704"/>
            <a:ext cx="347472" cy="640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6" y="463600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ECF1F8"/>
                </a:solidFill>
                <a:latin typeface="Arial"/>
              </a:rPr>
              <a:t>AND EVERYONE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4965192"/>
            <a:ext cx="304495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200" b="0" i="0">
                <a:solidFill>
                  <a:srgbClr val="93A2B8"/>
                </a:solidFill>
                <a:latin typeface="Arial"/>
              </a:rPr>
              <a:t>who writes papers, files issues, and shares code in the open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053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1">
                <a:solidFill>
                  <a:srgbClr val="5A687C"/>
                </a:solidFill>
                <a:latin typeface="Arial"/>
              </a:rPr>
              <a:t>Thank you, all of you.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5566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DE5A0"/>
                </a:solidFill>
                <a:latin typeface="Arial"/>
              </a:rPr>
              <a:t>netweevil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5566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A687C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371600" y="2743200"/>
            <a:ext cx="5943600" cy="5943600"/>
          </a:xfrm>
          <a:prstGeom prst="roundRect">
            <a:avLst>
              <a:gd name="adj" fmla="val 50000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0" y="-18288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502920" cy="91440"/>
          </a:xfrm>
          <a:prstGeom prst="rect">
            <a:avLst/>
          </a:prstGeom>
          <a:solidFill>
            <a:srgbClr val="2DE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2DE5A0"/>
                </a:solidFill>
                <a:latin typeface="Arial"/>
              </a:rPr>
              <a:t>IN ONE BREATH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95728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3800" b="1" i="0">
                <a:solidFill>
                  <a:srgbClr val="ECF1F8"/>
                </a:solidFill>
                <a:latin typeface="Arial"/>
              </a:rPr>
              <a:t>Not a faster OSRM.</a:t>
            </a:r>
          </a:p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3800" b="1" i="0">
                <a:solidFill>
                  <a:srgbClr val="ECF1F8"/>
                </a:solidFill>
                <a:latin typeface="Arial"/>
              </a:rPr>
              <a:t>Not a smaller Valhalla.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650" b="0" i="0">
                <a:solidFill>
                  <a:srgbClr val="93A2B8"/>
                </a:solidFill>
                <a:latin typeface="Arial"/>
              </a:rPr>
              <a:t>A local engine for the research case: where every parameter has to be explainable and tunable, every run reproducible, and the output shaped to whatever the analysis needs.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32120"/>
            <a:ext cx="10652760" cy="16459"/>
          </a:xfrm>
          <a:prstGeom prst="rect">
            <a:avLst/>
          </a:prstGeom>
          <a:solidFill>
            <a:srgbClr val="26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ECF1F8"/>
                </a:solidFill>
                <a:latin typeface="Arial"/>
              </a:rPr>
              <a:t>Built for my own pain points,</a:t>
            </a:r>
            <a:r>
              <a:rPr sz="1400" b="0" i="0">
                <a:solidFill>
                  <a:srgbClr val="93A2B8"/>
                </a:solidFill>
                <a:latin typeface="Arial"/>
              </a:rPr>
              <a:t>   the questions I kept needing to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99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DE5A0"/>
                </a:solidFill>
                <a:latin typeface="Arial"/>
              </a:rPr>
              <a:t>netweevil</a:t>
            </a:r>
            <a:r>
              <a:rPr sz="1200" b="0" i="0">
                <a:solidFill>
                  <a:srgbClr val="5A687C"/>
                </a:solidFill>
                <a:latin typeface="Arial"/>
              </a:rPr>
              <a:t>   a local engine for network-analysis research, in 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