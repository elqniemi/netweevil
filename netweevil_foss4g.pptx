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 am Elmeri. For a good part of my career I was the person researchers and public agencies came to with routing questions. This talk is in three parts. First the questions I could never answer properly. Then the instrument I built to answer them. And then the part the title gives away: most of that instrument was written by AI coding agents, and I want to be honest about what that was 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one, the problem. These are real questions, lightly anonymised. The ambulance one is real. The Lelylijn comes up constantly here in the Netherlands. And the last one is the quiet killer: reproducibility. For most of my career the honest answer to that one was no. Not because we were sloppy, but because the answers lived in one-off scripts glued around whatever tool was closest.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clear, I used these tools for years and they are excellent. OSRM is absurdly fast. Valhalla runs real products. pgRouting gives you the whole database. QNEAT3 is right there in QGIS. But a custom cost model meant editing Lua or C++ and re-preprocessing, or writing SQL per question. And none of them wrote down how a result was produced in a way I could hand to a reviewer a year later. So last spring I did the unreasonable thing and built my own engine. Before I tell you how, let me show you around, because the tool has to earn your attention on its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two, the instrument. Netweevil is a Rust workspace, eleven crates, one binary. The CLI does import, profile compilation, analysis, simulation and reporting. The same engine serves an HTTP API that a QGIS plugin talks to. Everything lands in one local dot-netweevil directory. No database, no tile server, nothing to operate before you can ask a question.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ambulance question from act one. In netweevil, a cost model is a YAML file. Speeds by tag, surface factors, turn penalties, tolls, and how posted speed limits are treated. The national speed limit study becomes two profiles and a diff: same requests, compare the time spent per road class before and after. Compilation takes seconds, and the profile is version controlled next to the results, so the cost model can literally go in the paper's appendix.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everyday requests are all native. Single routes with full geometry, batches of thousands in one deterministic run, origin-destination pairs, time and distance matrices, service areas, accessibility scoring. The map is a drive-time service area from the centre of Groningen, computed on the reachable network itself, not as a smoothed hull: about 107 thousand edges and 2,650 kilometres of road within fifteen minutes. This is the bread and butter behind every accessibility question.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my favourite recurring questions: what happens when vehicles do not take the optimal path? People want this for exposure studies, for spreading fleets over corridors, for making simulated traffic believable, or just to know how expensive the second-best option is. Most routers treat alternatives as a UI feature. Here they are a first-class result: every alternative reports its extra minutes and metres against the optimum, so suboptimality has a price tag. On this map the fastest crossing of Groningen takes 14.4 minutes, two alternatives cost less than a minute extra, and the wide northern ring costs 3.7 minutes more. That is the whole analysis, as one request.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Lelylijn. GTFS feeds import next to the road network, and a journey stitches walking and scheduled services together. The map shows transit reach from Groningen central station at eight in the morning, on the real national feed, about nineteen hundred stops in this extract. The trick for a line that does not exist yet: describe it as ordinary GTFS rows, import the synthetic feed, run the same accessibility query, and difference the two surfaces. The before and after map is the answer to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tells you what is optimal. Simulation tells you what happens when seven hundred drivers all believe that at once. The engine includes agent-based traffic simulation on the same network: spillback queues, live rerouting when drivers hit jams, slow zones and closures that can change mid-run. This snapshot is a morning peak over Groningen, edges coloured from free flow to jammed, with the city-centre slow zone outlined. Frames land as layers, so the whole run plays back inside QGIS.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the people who asked me those questions live in QGIS, so answers have to land there. The plugin talks to the local API and brings results back as grouped, styled layers: routes, service areas, transit stops, simulation frames. It supports QGIS 3.28 through 4.99 on both Qt 5 and Qt 6, and it is packaged like any normal plugin. For a municipal analyst the engine is invisible; there is a panel, and maps come 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fifth question from act one: run it again next year, get the same numbers. That is answered structurally, not by discipline. Every run writes a manifest pinning the source data and its hashes, the exact compiled cost model, the software and algorithm version, and the full request. There is no hidden state in a UI somewhere. That is the difference between a demo and an instrument you can publish from. And that closes the tour. Now the part of the story I have been saving: who actually built all this.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three. Everything you just saw was built by one analyst, mostly in the evenings, and mostly not typed by me. The engine I wanted was never going to be a funded project; nobody budgets a routing engine for one person. What changed this spring is that the cost side of that equation collapsed. I want to be precise here: I did not vibe-code a router. I wrote specs, argued with plans, reviewed every diff, and verified outputs against tools I trust. But the agent did most of the typing, and honestly, a lot of the engineering is better than what I would have produced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commit history. First commit in March, and then long stretches of nothing, because this is an evenings and weekends project and I have a life. The work concentrates in a few bursts: the core engine and routing first, then the accelerator and profile system, then one long day in June that added GTFS transit and the traffic simulation, and one in July for Overture Maps import. Seventy five commits, eight days with commits on them, forty three thousand lines of Rust. That used to be a team and a year.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work actually feels. Every feature starts as a written plan that we argue about before any code exists; the typing is the cheap part now. The single biggest lever is the quote at the bottom, from Boris Cherny, who created Claude Code: give the agent a way to verify its output, and it iterates until the result is great. He puts the gain at two to three times, and that matches my experience exactly. For this engine, verification meant tests, fixture corpora, and rendered maps the agent can look at. When the agent gets something wrong, the correction goes into the project instructions file, not the chat, so the mistake stops recurring. And the work runs in parallel: one session on GTFS import, another on the QGIS plugin. Boris says he runs dozens at once; I am not there yet, but even three changes what an evening is worth. None of this is my invention, and that is the point: the patterns are public, and they transfer straight to geospatial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objection: can you trust code an AI wrote? My answer is that it is the same question as trusting any router, and the same answer applies: verification, not confidence. The fast path is a customizable contraction hierarchy, and it is differential tested route for route against a brute force engine that ships inside the same binary. Same answers, about 45 times faster. The cases that quietly break routers, via-way turn restrictions, are modelled and on this map: the red route is what you get if you ignore them. And this is not just my hobby standard. Simon Willison recently had an agent do a final review before a release and it found five release blockers for about 150 dollars. Machine verification is cheap now. Blind trust is the only expensive option.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honest part. The agent did not know what a via-way restriction is, or what a wrong isochrone looks like. I did. Agents amplify what you bring, and if you skip the understanding you are taking on debt in your own head, not just in the code. Second, the bottleneck moved: I read far more code than I write now. Theo Browne asked in July how much better the models have to get before we stop reading the code. Maybe he is right for product code. For an engine whose numbers end up in policy discussions, my answer is: not yet. Third, we are lucky in this field: our wrong answers are visible. A route through a canal does not need a stack trace. Every rendered map doubled as a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line from this talk, make it this one. It is from yacine, a builder on X, and Andrej Karpathy passed it around for a reason. Agents can produce, and produce, and produce. Understanding does not come included. If you let it erode, you and your project are done; you just do not know it yet. In geospatial work this is not philosophy. Our numbers steer ambulances, bus lines and policy debates. The engine is mine because I understand it, not because I typed it. That is the deal the agents offer, and it is a good deal, but understanding is the part you can never hand over.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for this room. Bespoke analysis tools used to be a luxury for well-funded teams. That constraint is gone: a research group or a municipal team can now afford an instrument fitted to their questions instead of bending the question to fit the tool. But none of it works without the commons. The agents learned from open code, and this engine stands on OSM, GTFS, twenty years of routing papers and QGIS. Publishing our tools back is the least we owe. And the skill that matters has moved to exactly where this community is strong: knowing what to ask, and knowing how to check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in one breath. Netweevil is not a product and it is not trying to replace OSRM, Valhalla, pgRouting or QNEAT3. It is an instrument: a local engine for the research case, where every parameter has to be explainable, every run reproducible, and the output shaped to the question. It was built in days, on top of decades of open source, by one analyst who understood the problem and a lot of patient machines. Thank you, and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66960" y="-822960"/>
            <a:ext cx="3108960" cy="2377440"/>
          </a:xfrm>
          <a:prstGeom prst="roundRect">
            <a:avLst>
              <a:gd name="adj" fmla="val 9615"/>
            </a:avLst>
          </a:prstGeom>
          <a:noFill/>
          <a:ln w="1905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561320" y="-1143000"/>
            <a:ext cx="3108960" cy="2377440"/>
          </a:xfrm>
          <a:prstGeom prst="roundRect">
            <a:avLst>
              <a:gd name="adj" fmla="val 9615"/>
            </a:avLst>
          </a:prstGeom>
          <a:noFill/>
          <a:ln w="12700">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9144000" cy="365760"/>
          </a:xfrm>
          <a:prstGeom prst="rect">
            <a:avLst/>
          </a:prstGeom>
          <a:noFill/>
        </p:spPr>
        <p:txBody>
          <a:bodyPr wrap="square" lIns="0" rIns="0" tIns="0" bIns="0">
            <a:spAutoFit/>
          </a:bodyPr>
          <a:lstStyle/>
          <a:p>
            <a:pPr algn="l">
              <a:lnSpc>
                <a:spcPct val="112000"/>
              </a:lnSpc>
              <a:spcAft>
                <a:spcPts val="432"/>
              </a:spcAft>
            </a:pPr>
            <a:r>
              <a:rPr sz="1500" b="1" i="0">
                <a:solidFill>
                  <a:srgbClr val="2DE5A0"/>
                </a:solidFill>
                <a:latin typeface="Arial"/>
              </a:rPr>
              <a:t>FOSS4G NL 2026</a:t>
            </a:r>
          </a:p>
        </p:txBody>
      </p:sp>
      <p:sp>
        <p:nvSpPr>
          <p:cNvPr id="6" name="TextBox 5"/>
          <p:cNvSpPr txBox="1"/>
          <p:nvPr/>
        </p:nvSpPr>
        <p:spPr>
          <a:xfrm>
            <a:off x="621792" y="1389888"/>
            <a:ext cx="10058400" cy="365760"/>
          </a:xfrm>
          <a:prstGeom prst="rect">
            <a:avLst/>
          </a:prstGeom>
          <a:noFill/>
        </p:spPr>
        <p:txBody>
          <a:bodyPr wrap="square" lIns="0" rIns="0" tIns="0" bIns="0">
            <a:spAutoFit/>
          </a:bodyPr>
          <a:lstStyle/>
          <a:p>
            <a:pPr algn="l">
              <a:lnSpc>
                <a:spcPct val="112000"/>
              </a:lnSpc>
              <a:spcAft>
                <a:spcPts val="432"/>
              </a:spcAft>
            </a:pPr>
            <a:r>
              <a:rPr sz="7400" b="1" i="0">
                <a:solidFill>
                  <a:srgbClr val="ECF1F8"/>
                </a:solidFill>
                <a:latin typeface="Arial"/>
              </a:rPr>
              <a:t>netweevil</a:t>
            </a:r>
          </a:p>
        </p:txBody>
      </p:sp>
      <p:sp>
        <p:nvSpPr>
          <p:cNvPr id="7" name="TextBox 6"/>
          <p:cNvSpPr txBox="1"/>
          <p:nvPr/>
        </p:nvSpPr>
        <p:spPr>
          <a:xfrm>
            <a:off x="685800" y="2697480"/>
            <a:ext cx="11155680" cy="365760"/>
          </a:xfrm>
          <a:prstGeom prst="rect">
            <a:avLst/>
          </a:prstGeom>
          <a:noFill/>
        </p:spPr>
        <p:txBody>
          <a:bodyPr wrap="square" lIns="0" rIns="0" tIns="0" bIns="0">
            <a:spAutoFit/>
          </a:bodyPr>
          <a:lstStyle/>
          <a:p>
            <a:pPr algn="l">
              <a:lnSpc>
                <a:spcPct val="112000"/>
              </a:lnSpc>
              <a:spcAft>
                <a:spcPts val="432"/>
              </a:spcAft>
            </a:pPr>
            <a:r>
              <a:rPr sz="2000" b="1" i="0">
                <a:solidFill>
                  <a:srgbClr val="ECF1F8"/>
                </a:solidFill>
                <a:latin typeface="Arial"/>
              </a:rPr>
              <a:t>Prototyping a Reproducible Network Analysis Engine in the Age of AI Agents</a:t>
            </a:r>
          </a:p>
        </p:txBody>
      </p:sp>
      <p:sp>
        <p:nvSpPr>
          <p:cNvPr id="8" name="TextBox 7"/>
          <p:cNvSpPr txBox="1"/>
          <p:nvPr/>
        </p:nvSpPr>
        <p:spPr>
          <a:xfrm>
            <a:off x="685800" y="3218688"/>
            <a:ext cx="9326880" cy="365760"/>
          </a:xfrm>
          <a:prstGeom prst="rect">
            <a:avLst/>
          </a:prstGeom>
          <a:noFill/>
        </p:spPr>
        <p:txBody>
          <a:bodyPr wrap="square" lIns="0" rIns="0" tIns="0" bIns="0">
            <a:spAutoFit/>
          </a:bodyPr>
          <a:lstStyle/>
          <a:p>
            <a:pPr algn="l">
              <a:lnSpc>
                <a:spcPct val="120000"/>
              </a:lnSpc>
              <a:spcAft>
                <a:spcPts val="432"/>
              </a:spcAft>
            </a:pPr>
            <a:r>
              <a:rPr sz="1400" b="0" i="0">
                <a:solidFill>
                  <a:srgbClr val="93A2B8"/>
                </a:solidFill>
                <a:latin typeface="Arial"/>
              </a:rPr>
              <a:t>Years of answering other people's routing questions with duct tape. Then agents got good, and the tool I always wanted became a few days of work.</a:t>
            </a:r>
          </a:p>
        </p:txBody>
      </p:sp>
      <p:sp>
        <p:nvSpPr>
          <p:cNvPr id="9" name="Rounded Rectangle 8"/>
          <p:cNvSpPr/>
          <p:nvPr/>
        </p:nvSpPr>
        <p:spPr>
          <a:xfrm>
            <a:off x="685800" y="4315968"/>
            <a:ext cx="1481328" cy="457200"/>
          </a:xfrm>
          <a:prstGeom prst="roundRect">
            <a:avLst>
              <a:gd name="adj" fmla="val 50000"/>
            </a:avLst>
          </a:prstGeom>
          <a:solidFill>
            <a:srgbClr val="162032"/>
          </a:solid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14000"/>
              </a:lnSpc>
            </a:pPr>
            <a:r>
              <a:rPr sz="1250" b="1" i="0">
                <a:solidFill>
                  <a:srgbClr val="2DE5A0"/>
                </a:solidFill>
                <a:latin typeface="Arial"/>
              </a:rPr>
              <a:t>Rust engine</a:t>
            </a:r>
          </a:p>
        </p:txBody>
      </p:sp>
      <p:sp>
        <p:nvSpPr>
          <p:cNvPr id="10" name="Rounded Rectangle 9"/>
          <p:cNvSpPr/>
          <p:nvPr/>
        </p:nvSpPr>
        <p:spPr>
          <a:xfrm>
            <a:off x="2395728" y="4315968"/>
            <a:ext cx="1481328" cy="457200"/>
          </a:xfrm>
          <a:prstGeom prst="roundRect">
            <a:avLst>
              <a:gd name="adj" fmla="val 50000"/>
            </a:avLst>
          </a:prstGeom>
          <a:solidFill>
            <a:srgbClr val="162032"/>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14000"/>
              </a:lnSpc>
            </a:pPr>
            <a:r>
              <a:rPr sz="1250" b="1" i="0">
                <a:solidFill>
                  <a:srgbClr val="4FC3F7"/>
                </a:solidFill>
                <a:latin typeface="Arial"/>
              </a:rPr>
              <a:t>HTTP API</a:t>
            </a:r>
          </a:p>
        </p:txBody>
      </p:sp>
      <p:sp>
        <p:nvSpPr>
          <p:cNvPr id="11" name="Rounded Rectangle 10"/>
          <p:cNvSpPr/>
          <p:nvPr/>
        </p:nvSpPr>
        <p:spPr>
          <a:xfrm>
            <a:off x="4105656" y="4315968"/>
            <a:ext cx="1481328" cy="457200"/>
          </a:xfrm>
          <a:prstGeom prst="roundRect">
            <a:avLst>
              <a:gd name="adj" fmla="val 50000"/>
            </a:avLst>
          </a:prstGeom>
          <a:solidFill>
            <a:srgbClr val="162032"/>
          </a:solidFill>
          <a:ln w="15875">
            <a:solidFill>
              <a:srgbClr val="FFC14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14000"/>
              </a:lnSpc>
            </a:pPr>
            <a:r>
              <a:rPr sz="1250" b="1" i="0">
                <a:solidFill>
                  <a:srgbClr val="FFC14E"/>
                </a:solidFill>
                <a:latin typeface="Arial"/>
              </a:rPr>
              <a:t>QGIS plugin</a:t>
            </a:r>
          </a:p>
        </p:txBody>
      </p:sp>
      <p:sp>
        <p:nvSpPr>
          <p:cNvPr id="12" name="Rounded Rectangle 11"/>
          <p:cNvSpPr/>
          <p:nvPr/>
        </p:nvSpPr>
        <p:spPr>
          <a:xfrm>
            <a:off x="5815584" y="4315968"/>
            <a:ext cx="1920240" cy="457200"/>
          </a:xfrm>
          <a:prstGeom prst="roundRect">
            <a:avLst>
              <a:gd name="adj" fmla="val 50000"/>
            </a:avLst>
          </a:prstGeom>
          <a:solidFill>
            <a:srgbClr val="162032"/>
          </a:solidFill>
          <a:ln w="15875">
            <a:solidFill>
              <a:srgbClr val="ECF1F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14000"/>
              </a:lnSpc>
            </a:pPr>
            <a:r>
              <a:rPr sz="1250" b="1" i="0">
                <a:solidFill>
                  <a:srgbClr val="ECF1F8"/>
                </a:solidFill>
                <a:latin typeface="Arial"/>
              </a:rPr>
              <a:t>Reproducible runs</a:t>
            </a:r>
          </a:p>
        </p:txBody>
      </p:sp>
      <p:pic>
        <p:nvPicPr>
          <p:cNvPr id="13" name="Picture 12" descr="portrait_circle.png"/>
          <p:cNvPicPr>
            <a:picLocks noChangeAspect="1"/>
          </p:cNvPicPr>
          <p:nvPr/>
        </p:nvPicPr>
        <p:blipFill>
          <a:blip r:embed="rId2"/>
          <a:stretch>
            <a:fillRect/>
          </a:stretch>
        </p:blipFill>
        <p:spPr>
          <a:xfrm>
            <a:off x="685800" y="4956048"/>
            <a:ext cx="1207008" cy="1207008"/>
          </a:xfrm>
          <a:prstGeom prst="rect">
            <a:avLst/>
          </a:prstGeom>
        </p:spPr>
      </p:pic>
      <p:sp>
        <p:nvSpPr>
          <p:cNvPr id="14" name="TextBox 13"/>
          <p:cNvSpPr txBox="1"/>
          <p:nvPr/>
        </p:nvSpPr>
        <p:spPr>
          <a:xfrm>
            <a:off x="2121408" y="5084064"/>
            <a:ext cx="7315200" cy="365760"/>
          </a:xfrm>
          <a:prstGeom prst="rect">
            <a:avLst/>
          </a:prstGeom>
          <a:noFill/>
        </p:spPr>
        <p:txBody>
          <a:bodyPr wrap="square" lIns="0" rIns="0" tIns="0" bIns="0">
            <a:spAutoFit/>
          </a:bodyPr>
          <a:lstStyle/>
          <a:p>
            <a:pPr algn="l">
              <a:lnSpc>
                <a:spcPct val="112000"/>
              </a:lnSpc>
              <a:spcAft>
                <a:spcPts val="432"/>
              </a:spcAft>
            </a:pPr>
            <a:r>
              <a:rPr sz="1500" b="1" i="0">
                <a:solidFill>
                  <a:srgbClr val="ECF1F8"/>
                </a:solidFill>
                <a:latin typeface="Arial"/>
              </a:rPr>
              <a:t>Elmeri Niemi</a:t>
            </a:r>
          </a:p>
        </p:txBody>
      </p:sp>
      <p:sp>
        <p:nvSpPr>
          <p:cNvPr id="15" name="TextBox 14"/>
          <p:cNvSpPr txBox="1"/>
          <p:nvPr/>
        </p:nvSpPr>
        <p:spPr>
          <a:xfrm>
            <a:off x="2121408" y="5376672"/>
            <a:ext cx="7315200" cy="365760"/>
          </a:xfrm>
          <a:prstGeom prst="rect">
            <a:avLst/>
          </a:prstGeom>
          <a:noFill/>
        </p:spPr>
        <p:txBody>
          <a:bodyPr wrap="square" lIns="0" rIns="0" tIns="0" bIns="0">
            <a:spAutoFit/>
          </a:bodyPr>
          <a:lstStyle/>
          <a:p>
            <a:pPr algn="l">
              <a:lnSpc>
                <a:spcPct val="112000"/>
              </a:lnSpc>
              <a:spcAft>
                <a:spcPts val="432"/>
              </a:spcAft>
            </a:pPr>
            <a:r>
              <a:rPr sz="1250" b="1" i="0">
                <a:solidFill>
                  <a:srgbClr val="2DE5A0"/>
                </a:solidFill>
                <a:latin typeface="Arial"/>
              </a:rPr>
              <a:t>Geo Consultant</a:t>
            </a:r>
            <a:r>
              <a:rPr sz="1250" b="0" i="0">
                <a:solidFill>
                  <a:srgbClr val="93A2B8"/>
                </a:solidFill>
                <a:latin typeface="Arial"/>
              </a:rPr>
              <a:t>  ·  Geodienst</a:t>
            </a:r>
          </a:p>
        </p:txBody>
      </p:sp>
      <p:sp>
        <p:nvSpPr>
          <p:cNvPr id="16" name="TextBox 15"/>
          <p:cNvSpPr txBox="1"/>
          <p:nvPr/>
        </p:nvSpPr>
        <p:spPr>
          <a:xfrm>
            <a:off x="2121408" y="5650992"/>
            <a:ext cx="9144000" cy="365760"/>
          </a:xfrm>
          <a:prstGeom prst="rect">
            <a:avLst/>
          </a:prstGeom>
          <a:noFill/>
        </p:spPr>
        <p:txBody>
          <a:bodyPr wrap="square" lIns="0" rIns="0" tIns="0" bIns="0">
            <a:spAutoFit/>
          </a:bodyPr>
          <a:lstStyle/>
          <a:p>
            <a:pPr algn="l">
              <a:lnSpc>
                <a:spcPct val="112000"/>
              </a:lnSpc>
              <a:spcAft>
                <a:spcPts val="432"/>
              </a:spcAft>
            </a:pPr>
            <a:r>
              <a:rPr sz="1150" b="0" i="0">
                <a:solidFill>
                  <a:srgbClr val="5A687C"/>
                </a:solidFill>
                <a:latin typeface="Arial"/>
              </a:rPr>
              <a:t>elmeri.niemi@gmail.com · o.e.niem@rug.nl · me@elmeriniemi.com</a:t>
            </a:r>
          </a:p>
        </p:txBody>
      </p:sp>
      <p:sp>
        <p:nvSpPr>
          <p:cNvPr id="17" name="TextBox 16"/>
          <p:cNvSpPr txBox="1"/>
          <p:nvPr/>
        </p:nvSpPr>
        <p:spPr>
          <a:xfrm>
            <a:off x="2121408" y="6053328"/>
            <a:ext cx="9144000" cy="365760"/>
          </a:xfrm>
          <a:prstGeom prst="rect">
            <a:avLst/>
          </a:prstGeom>
          <a:noFill/>
        </p:spPr>
        <p:txBody>
          <a:bodyPr wrap="square" lIns="0" rIns="0" tIns="0" bIns="0">
            <a:spAutoFit/>
          </a:bodyPr>
          <a:lstStyle/>
          <a:p>
            <a:pPr algn="l">
              <a:lnSpc>
                <a:spcPct val="112000"/>
              </a:lnSpc>
              <a:spcAft>
                <a:spcPts val="432"/>
              </a:spcAft>
            </a:pPr>
            <a:r>
              <a:rPr sz="1150" b="0" i="1">
                <a:solidFill>
                  <a:srgbClr val="5A687C"/>
                </a:solidFill>
                <a:latin typeface="Arial"/>
              </a:rPr>
              <a:t>Standing on OpenStreetMap, GTFS, twenty years of routing research, and the QGIS community.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ONE · THE PROBLEM</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The questions that kept landing on my desk</a:t>
            </a:r>
          </a:p>
        </p:txBody>
      </p:sp>
      <p:sp>
        <p:nvSpPr>
          <p:cNvPr id="6" name="TextBox 5"/>
          <p:cNvSpPr txBox="1"/>
          <p:nvPr/>
        </p:nvSpPr>
        <p:spPr>
          <a:xfrm>
            <a:off x="658368" y="1481328"/>
            <a:ext cx="108813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A big part of my work used to be helping researchers and public agencies with network analysis. Different projects, same shape of question:</a:t>
            </a:r>
          </a:p>
        </p:txBody>
      </p:sp>
      <p:sp>
        <p:nvSpPr>
          <p:cNvPr id="7" name="Rounded Rectangle 6"/>
          <p:cNvSpPr/>
          <p:nvPr/>
        </p:nvSpPr>
        <p:spPr>
          <a:xfrm>
            <a:off x="658368" y="1993392"/>
            <a:ext cx="6309360" cy="713232"/>
          </a:xfrm>
          <a:prstGeom prst="roundRect">
            <a:avLst>
              <a:gd name="adj" fmla="val 10256"/>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182880" tIns="18288" bIns="18288"/>
          <a:lstStyle/>
          <a:p>
            <a:pPr algn="l">
              <a:lnSpc>
                <a:spcPct val="114000"/>
              </a:lnSpc>
            </a:pPr>
            <a:r>
              <a:rPr sz="1250" b="0" i="1">
                <a:solidFill>
                  <a:srgbClr val="ECF1F8"/>
                </a:solidFill>
                <a:latin typeface="Arial"/>
              </a:rPr>
              <a:t>"How much time do ambulances spend on motorways, now that the national speed limit changed?"</a:t>
            </a:r>
          </a:p>
        </p:txBody>
      </p:sp>
      <p:sp>
        <p:nvSpPr>
          <p:cNvPr id="8" name="Rectangle 7"/>
          <p:cNvSpPr/>
          <p:nvPr/>
        </p:nvSpPr>
        <p:spPr>
          <a:xfrm>
            <a:off x="786384" y="2121408"/>
            <a:ext cx="50292" cy="457200"/>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816352"/>
            <a:ext cx="6309360" cy="713232"/>
          </a:xfrm>
          <a:prstGeom prst="roundRect">
            <a:avLst>
              <a:gd name="adj" fmla="val 10256"/>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182880" tIns="18288" bIns="18288"/>
          <a:lstStyle/>
          <a:p>
            <a:pPr algn="l">
              <a:lnSpc>
                <a:spcPct val="114000"/>
              </a:lnSpc>
            </a:pPr>
            <a:r>
              <a:rPr sz="1250" b="0" i="1">
                <a:solidFill>
                  <a:srgbClr val="ECF1F8"/>
                </a:solidFill>
                <a:latin typeface="Arial"/>
              </a:rPr>
              <a:t>"What would the Lelylijn do to accessibility in the north of the Netherlands?"</a:t>
            </a:r>
          </a:p>
        </p:txBody>
      </p:sp>
      <p:sp>
        <p:nvSpPr>
          <p:cNvPr id="10" name="Rectangle 9"/>
          <p:cNvSpPr/>
          <p:nvPr/>
        </p:nvSpPr>
        <p:spPr>
          <a:xfrm>
            <a:off x="786384" y="2944368"/>
            <a:ext cx="50292" cy="457200"/>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3639312"/>
            <a:ext cx="6309360" cy="713232"/>
          </a:xfrm>
          <a:prstGeom prst="roundRect">
            <a:avLst>
              <a:gd name="adj" fmla="val 10256"/>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182880" tIns="18288" bIns="18288"/>
          <a:lstStyle/>
          <a:p>
            <a:pPr algn="l">
              <a:lnSpc>
                <a:spcPct val="114000"/>
              </a:lnSpc>
            </a:pPr>
            <a:r>
              <a:rPr sz="1250" b="0" i="1">
                <a:solidFill>
                  <a:srgbClr val="ECF1F8"/>
                </a:solidFill>
                <a:latin typeface="Arial"/>
              </a:rPr>
              <a:t>"Which road types do trips actually use, and how does that shift between policies?"</a:t>
            </a:r>
          </a:p>
        </p:txBody>
      </p:sp>
      <p:sp>
        <p:nvSpPr>
          <p:cNvPr id="12" name="Rectangle 11"/>
          <p:cNvSpPr/>
          <p:nvPr/>
        </p:nvSpPr>
        <p:spPr>
          <a:xfrm>
            <a:off x="786384" y="3767328"/>
            <a:ext cx="50292" cy="457200"/>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 y="4462272"/>
            <a:ext cx="6309360" cy="713232"/>
          </a:xfrm>
          <a:prstGeom prst="roundRect">
            <a:avLst>
              <a:gd name="adj" fmla="val 10256"/>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182880" tIns="18288" bIns="18288"/>
          <a:lstStyle/>
          <a:p>
            <a:pPr algn="l">
              <a:lnSpc>
                <a:spcPct val="114000"/>
              </a:lnSpc>
            </a:pPr>
            <a:r>
              <a:rPr sz="1250" b="0" i="1">
                <a:solidFill>
                  <a:srgbClr val="ECF1F8"/>
                </a:solidFill>
                <a:latin typeface="Arial"/>
              </a:rPr>
              <a:t>"Can you route vehicles along deliberately suboptimal paths, and tell me what that costs?"</a:t>
            </a:r>
          </a:p>
        </p:txBody>
      </p:sp>
      <p:sp>
        <p:nvSpPr>
          <p:cNvPr id="14" name="Rectangle 13"/>
          <p:cNvSpPr/>
          <p:nvPr/>
        </p:nvSpPr>
        <p:spPr>
          <a:xfrm>
            <a:off x="786384" y="4590288"/>
            <a:ext cx="50292" cy="457200"/>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5285232"/>
            <a:ext cx="6309360" cy="713232"/>
          </a:xfrm>
          <a:prstGeom prst="roundRect">
            <a:avLst>
              <a:gd name="adj" fmla="val 10256"/>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182880" tIns="18288" bIns="18288"/>
          <a:lstStyle/>
          <a:p>
            <a:pPr algn="l">
              <a:lnSpc>
                <a:spcPct val="114000"/>
              </a:lnSpc>
            </a:pPr>
            <a:r>
              <a:rPr sz="1250" b="0" i="1">
                <a:solidFill>
                  <a:srgbClr val="ECF1F8"/>
                </a:solidFill>
                <a:latin typeface="Arial"/>
              </a:rPr>
              <a:t>"Can you run the whole thing again next year and get exactly the same numbers?"</a:t>
            </a:r>
          </a:p>
        </p:txBody>
      </p:sp>
      <p:sp>
        <p:nvSpPr>
          <p:cNvPr id="16" name="Rectangle 15"/>
          <p:cNvSpPr/>
          <p:nvPr/>
        </p:nvSpPr>
        <p:spPr>
          <a:xfrm>
            <a:off x="786384" y="5413248"/>
            <a:ext cx="50292" cy="457200"/>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78040" y="1993392"/>
            <a:ext cx="4343400" cy="4023360"/>
          </a:xfrm>
          <a:prstGeom prst="roundRect">
            <a:avLst>
              <a:gd name="adj" fmla="val 2045"/>
            </a:avLst>
          </a:prstGeom>
          <a:solidFill>
            <a:srgbClr val="101826"/>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34072" y="2212848"/>
            <a:ext cx="3840480" cy="365760"/>
          </a:xfrm>
          <a:prstGeom prst="rect">
            <a:avLst/>
          </a:prstGeom>
          <a:noFill/>
        </p:spPr>
        <p:txBody>
          <a:bodyPr wrap="square" lIns="0" rIns="0" tIns="0" bIns="0">
            <a:spAutoFit/>
          </a:bodyPr>
          <a:lstStyle/>
          <a:p>
            <a:pPr algn="l">
              <a:lnSpc>
                <a:spcPct val="112000"/>
              </a:lnSpc>
              <a:spcAft>
                <a:spcPts val="432"/>
              </a:spcAft>
            </a:pPr>
            <a:r>
              <a:rPr sz="1250" b="1" i="0">
                <a:solidFill>
                  <a:srgbClr val="FFC14E"/>
                </a:solidFill>
                <a:latin typeface="Arial"/>
              </a:rPr>
              <a:t>THE UNCOMFORTABLE PART</a:t>
            </a:r>
          </a:p>
        </p:txBody>
      </p:sp>
      <p:sp>
        <p:nvSpPr>
          <p:cNvPr id="19" name="TextBox 18"/>
          <p:cNvSpPr txBox="1"/>
          <p:nvPr/>
        </p:nvSpPr>
        <p:spPr>
          <a:xfrm>
            <a:off x="7434072" y="2578608"/>
            <a:ext cx="3840480" cy="365760"/>
          </a:xfrm>
          <a:prstGeom prst="rect">
            <a:avLst/>
          </a:prstGeom>
          <a:noFill/>
        </p:spPr>
        <p:txBody>
          <a:bodyPr wrap="square" lIns="0" rIns="0" tIns="0" bIns="0">
            <a:spAutoFit/>
          </a:bodyPr>
          <a:lstStyle/>
          <a:p>
            <a:pPr algn="l">
              <a:lnSpc>
                <a:spcPct val="122000"/>
              </a:lnSpc>
              <a:spcAft>
                <a:spcPts val="1584"/>
              </a:spcAft>
            </a:pPr>
            <a:r>
              <a:rPr sz="1300" b="0" i="0">
                <a:solidFill>
                  <a:srgbClr val="93A2B8"/>
                </a:solidFill>
                <a:latin typeface="Arial"/>
              </a:rPr>
              <a:t>Every one of these is a fair question.</a:t>
            </a:r>
          </a:p>
          <a:p>
            <a:pPr algn="l">
              <a:lnSpc>
                <a:spcPct val="122000"/>
              </a:lnSpc>
              <a:spcAft>
                <a:spcPts val="1584"/>
              </a:spcAft>
            </a:pPr>
            <a:r>
              <a:rPr sz="1300" b="0" i="0">
                <a:solidFill>
                  <a:srgbClr val="93A2B8"/>
                </a:solidFill>
                <a:latin typeface="Arial"/>
              </a:rPr>
              <a:t>Almost every answer was a one-off script, a hand-patched cost function, and a result I could not fully reconstruct six months later.</a:t>
            </a:r>
          </a:p>
          <a:p>
            <a:pPr algn="l">
              <a:lnSpc>
                <a:spcPct val="122000"/>
              </a:lnSpc>
              <a:spcAft>
                <a:spcPts val="1584"/>
              </a:spcAft>
            </a:pPr>
            <a:r>
              <a:rPr sz="1300" b="0" i="0">
                <a:solidFill>
                  <a:srgbClr val="ECF1F8"/>
                </a:solidFill>
                <a:latin typeface="Arial"/>
              </a:rPr>
              <a:t>This talk is about closing that gap, and about who actually wrote the code.</a:t>
            </a:r>
          </a:p>
        </p:txBody>
      </p:sp>
      <p:sp>
        <p:nvSpPr>
          <p:cNvPr id="20" name="TextBox 19"/>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21" name="TextBox 20"/>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ONE · THE PROBLEM</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Great tools, none of them shaped for this</a:t>
            </a:r>
          </a:p>
        </p:txBody>
      </p:sp>
      <p:sp>
        <p:nvSpPr>
          <p:cNvPr id="6" name="Rounded Rectangle 5"/>
          <p:cNvSpPr/>
          <p:nvPr/>
        </p:nvSpPr>
        <p:spPr>
          <a:xfrm>
            <a:off x="658368" y="1965960"/>
            <a:ext cx="2057400" cy="2377440"/>
          </a:xfrm>
          <a:prstGeom prst="roundRect">
            <a:avLst>
              <a:gd name="adj" fmla="val 4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59" y="2130552"/>
            <a:ext cx="457200" cy="54864"/>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295144"/>
            <a:ext cx="1728216"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OSRM</a:t>
            </a:r>
          </a:p>
        </p:txBody>
      </p:sp>
      <p:sp>
        <p:nvSpPr>
          <p:cNvPr id="9" name="TextBox 8"/>
          <p:cNvSpPr txBox="1"/>
          <p:nvPr/>
        </p:nvSpPr>
        <p:spPr>
          <a:xfrm>
            <a:off x="822959" y="2624328"/>
            <a:ext cx="1728216"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Fastest car routing at continental scale. The reference for raw throughput.</a:t>
            </a:r>
          </a:p>
        </p:txBody>
      </p:sp>
      <p:sp>
        <p:nvSpPr>
          <p:cNvPr id="10" name="Rounded Rectangle 9"/>
          <p:cNvSpPr/>
          <p:nvPr/>
        </p:nvSpPr>
        <p:spPr>
          <a:xfrm>
            <a:off x="2862072" y="1965960"/>
            <a:ext cx="2057400" cy="2377440"/>
          </a:xfrm>
          <a:prstGeom prst="roundRect">
            <a:avLst>
              <a:gd name="adj" fmla="val 4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26664" y="2130552"/>
            <a:ext cx="457200" cy="54864"/>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6664" y="2295144"/>
            <a:ext cx="1728216"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Valhalla</a:t>
            </a:r>
          </a:p>
        </p:txBody>
      </p:sp>
      <p:sp>
        <p:nvSpPr>
          <p:cNvPr id="13" name="TextBox 12"/>
          <p:cNvSpPr txBox="1"/>
          <p:nvPr/>
        </p:nvSpPr>
        <p:spPr>
          <a:xfrm>
            <a:off x="3026664" y="2624328"/>
            <a:ext cx="1728216"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Production multimodal routing, tiled and mature. Runs real services today.</a:t>
            </a:r>
          </a:p>
        </p:txBody>
      </p:sp>
      <p:sp>
        <p:nvSpPr>
          <p:cNvPr id="14" name="Rounded Rectangle 13"/>
          <p:cNvSpPr/>
          <p:nvPr/>
        </p:nvSpPr>
        <p:spPr>
          <a:xfrm>
            <a:off x="5065776" y="1965960"/>
            <a:ext cx="2057400" cy="2377440"/>
          </a:xfrm>
          <a:prstGeom prst="roundRect">
            <a:avLst>
              <a:gd name="adj" fmla="val 4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30368" y="2130552"/>
            <a:ext cx="457200" cy="54864"/>
          </a:xfrm>
          <a:prstGeom prst="rect">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0368" y="2295144"/>
            <a:ext cx="1728216"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pgRouting</a:t>
            </a:r>
          </a:p>
        </p:txBody>
      </p:sp>
      <p:sp>
        <p:nvSpPr>
          <p:cNvPr id="17" name="TextBox 16"/>
          <p:cNvSpPr txBox="1"/>
          <p:nvPr/>
        </p:nvSpPr>
        <p:spPr>
          <a:xfrm>
            <a:off x="5230368" y="2624328"/>
            <a:ext cx="1728216"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Routing inside PostGIS. Arbitrary graph queries in SQL, deep database integration.</a:t>
            </a:r>
          </a:p>
        </p:txBody>
      </p:sp>
      <p:sp>
        <p:nvSpPr>
          <p:cNvPr id="18" name="Rounded Rectangle 17"/>
          <p:cNvSpPr/>
          <p:nvPr/>
        </p:nvSpPr>
        <p:spPr>
          <a:xfrm>
            <a:off x="7269480" y="1965960"/>
            <a:ext cx="2057400" cy="2377440"/>
          </a:xfrm>
          <a:prstGeom prst="roundRect">
            <a:avLst>
              <a:gd name="adj" fmla="val 4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34072" y="2130552"/>
            <a:ext cx="457200" cy="54864"/>
          </a:xfrm>
          <a:prstGeom prst="rect">
            <a:avLst/>
          </a:prstGeom>
          <a:solidFill>
            <a:srgbClr val="B9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34072" y="2295144"/>
            <a:ext cx="1728216"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QNEAT3</a:t>
            </a:r>
          </a:p>
        </p:txBody>
      </p:sp>
      <p:sp>
        <p:nvSpPr>
          <p:cNvPr id="21" name="TextBox 20"/>
          <p:cNvSpPr txBox="1"/>
          <p:nvPr/>
        </p:nvSpPr>
        <p:spPr>
          <a:xfrm>
            <a:off x="7434072" y="2624328"/>
            <a:ext cx="1728216"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Zero-setup network analysis inside QGIS. Open the plugin and go.</a:t>
            </a:r>
          </a:p>
        </p:txBody>
      </p:sp>
      <p:sp>
        <p:nvSpPr>
          <p:cNvPr id="22" name="Rounded Rectangle 21"/>
          <p:cNvSpPr/>
          <p:nvPr/>
        </p:nvSpPr>
        <p:spPr>
          <a:xfrm>
            <a:off x="9473184" y="1965960"/>
            <a:ext cx="2057400" cy="2377440"/>
          </a:xfrm>
          <a:prstGeom prst="roundRect">
            <a:avLst>
              <a:gd name="adj" fmla="val 4000"/>
            </a:avLst>
          </a:prstGeom>
          <a:solidFill>
            <a:srgbClr val="1B283E"/>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37776" y="2130552"/>
            <a:ext cx="457200" cy="54864"/>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37776" y="2295144"/>
            <a:ext cx="1728216"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The gap</a:t>
            </a:r>
          </a:p>
        </p:txBody>
      </p:sp>
      <p:sp>
        <p:nvSpPr>
          <p:cNvPr id="25" name="TextBox 24"/>
          <p:cNvSpPr txBox="1"/>
          <p:nvPr/>
        </p:nvSpPr>
        <p:spPr>
          <a:xfrm>
            <a:off x="9637776" y="2624328"/>
            <a:ext cx="1728216"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Custom cost models meant Lua, C++ or SQL per question, plus re-preprocessing. And nothing recorded how a result was produced.</a:t>
            </a:r>
          </a:p>
        </p:txBody>
      </p:sp>
      <p:sp>
        <p:nvSpPr>
          <p:cNvPr id="26" name="Rounded Rectangle 25"/>
          <p:cNvSpPr/>
          <p:nvPr/>
        </p:nvSpPr>
        <p:spPr>
          <a:xfrm>
            <a:off x="658368" y="4800600"/>
            <a:ext cx="10881360" cy="1097280"/>
          </a:xfrm>
          <a:prstGeom prst="roundRect">
            <a:avLst>
              <a:gd name="adj" fmla="val 7500"/>
            </a:avLst>
          </a:prstGeom>
          <a:solidFill>
            <a:srgbClr val="101826"/>
          </a:solid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983480"/>
            <a:ext cx="10369296" cy="365760"/>
          </a:xfrm>
          <a:prstGeom prst="rect">
            <a:avLst/>
          </a:prstGeom>
          <a:noFill/>
        </p:spPr>
        <p:txBody>
          <a:bodyPr wrap="square" lIns="0" rIns="0" tIns="0" bIns="0">
            <a:spAutoFit/>
          </a:bodyPr>
          <a:lstStyle/>
          <a:p>
            <a:pPr algn="l">
              <a:lnSpc>
                <a:spcPct val="118000"/>
              </a:lnSpc>
              <a:spcAft>
                <a:spcPts val="432"/>
              </a:spcAft>
            </a:pPr>
            <a:r>
              <a:rPr sz="1300" b="1" i="0">
                <a:solidFill>
                  <a:srgbClr val="ECF1F8"/>
                </a:solidFill>
                <a:latin typeface="Arial"/>
              </a:rPr>
              <a:t>I used pgRouting and Valhalla for years, and they are excellent at their jobs.  </a:t>
            </a:r>
            <a:r>
              <a:rPr sz="1300" b="0" i="0">
                <a:solidFill>
                  <a:srgbClr val="93A2B8"/>
                </a:solidFill>
                <a:latin typeface="Arial"/>
              </a:rPr>
              <a:t>But every research question became a fight with someone else's schema. So last spring I did the unreasonable thing and built my own. Let me show you around first.</a:t>
            </a:r>
          </a:p>
        </p:txBody>
      </p:sp>
      <p:sp>
        <p:nvSpPr>
          <p:cNvPr id="28" name="TextBox 27"/>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29" name="TextBox 28"/>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THE INSTRUMENT</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An analysis engine, not a production backend</a:t>
            </a:r>
          </a:p>
        </p:txBody>
      </p:sp>
      <p:sp>
        <p:nvSpPr>
          <p:cNvPr id="6" name="TextBox 5"/>
          <p:cNvSpPr txBox="1"/>
          <p:nvPr/>
        </p:nvSpPr>
        <p:spPr>
          <a:xfrm>
            <a:off x="658368" y="1481328"/>
            <a:ext cx="108813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A Rust workspace, 11 crates, one binary for import, profile compilation, analysis, simulation and reporting.</a:t>
            </a:r>
          </a:p>
        </p:txBody>
      </p:sp>
      <p:sp>
        <p:nvSpPr>
          <p:cNvPr id="7" name="Rounded Rectangle 6"/>
          <p:cNvSpPr/>
          <p:nvPr/>
        </p:nvSpPr>
        <p:spPr>
          <a:xfrm>
            <a:off x="658368" y="2103120"/>
            <a:ext cx="2638044" cy="2103120"/>
          </a:xfrm>
          <a:prstGeom prst="roundRect">
            <a:avLst>
              <a:gd name="adj" fmla="val 3913"/>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267712"/>
            <a:ext cx="457200" cy="54864"/>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32303"/>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CLI</a:t>
            </a:r>
          </a:p>
        </p:txBody>
      </p:sp>
      <p:sp>
        <p:nvSpPr>
          <p:cNvPr id="10" name="TextBox 9"/>
          <p:cNvSpPr txBox="1"/>
          <p:nvPr/>
        </p:nvSpPr>
        <p:spPr>
          <a:xfrm>
            <a:off x="822959" y="2761487"/>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Scriptable, deterministic, CI friendly. Import, compile, analyze, simulate, report.</a:t>
            </a:r>
          </a:p>
        </p:txBody>
      </p:sp>
      <p:sp>
        <p:nvSpPr>
          <p:cNvPr id="11" name="Rounded Rectangle 10"/>
          <p:cNvSpPr/>
          <p:nvPr/>
        </p:nvSpPr>
        <p:spPr>
          <a:xfrm>
            <a:off x="3406139" y="2103120"/>
            <a:ext cx="2638044" cy="2103120"/>
          </a:xfrm>
          <a:prstGeom prst="roundRect">
            <a:avLst>
              <a:gd name="adj" fmla="val 3913"/>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70732" y="2267712"/>
            <a:ext cx="457200" cy="54864"/>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0732" y="2432303"/>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HTTP API</a:t>
            </a:r>
          </a:p>
        </p:txBody>
      </p:sp>
      <p:sp>
        <p:nvSpPr>
          <p:cNvPr id="14" name="TextBox 13"/>
          <p:cNvSpPr txBox="1"/>
          <p:nvPr/>
        </p:nvSpPr>
        <p:spPr>
          <a:xfrm>
            <a:off x="3570732" y="2761487"/>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Axum service, datasets and profiles held in memory. JSON or GeoJSON, ready for the plugin or a notebook.</a:t>
            </a:r>
          </a:p>
        </p:txBody>
      </p:sp>
      <p:sp>
        <p:nvSpPr>
          <p:cNvPr id="15" name="Rounded Rectangle 14"/>
          <p:cNvSpPr/>
          <p:nvPr/>
        </p:nvSpPr>
        <p:spPr>
          <a:xfrm>
            <a:off x="6153912" y="2103120"/>
            <a:ext cx="2638044" cy="2103120"/>
          </a:xfrm>
          <a:prstGeom prst="roundRect">
            <a:avLst>
              <a:gd name="adj" fmla="val 3913"/>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18503" y="2267712"/>
            <a:ext cx="457200" cy="54864"/>
          </a:xfrm>
          <a:prstGeom prst="rect">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3" y="2432303"/>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QGIS plugin</a:t>
            </a:r>
          </a:p>
        </p:txBody>
      </p:sp>
      <p:sp>
        <p:nvSpPr>
          <p:cNvPr id="18" name="TextBox 17"/>
          <p:cNvSpPr txBox="1"/>
          <p:nvPr/>
        </p:nvSpPr>
        <p:spPr>
          <a:xfrm>
            <a:off x="6318503" y="2761487"/>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QGIS 3.28 to 4.99, Qt 5 and Qt 6. Route, OD, matrix, service area, transit and live simulation as grouped layers.</a:t>
            </a:r>
          </a:p>
        </p:txBody>
      </p:sp>
      <p:sp>
        <p:nvSpPr>
          <p:cNvPr id="19" name="Rounded Rectangle 18"/>
          <p:cNvSpPr/>
          <p:nvPr/>
        </p:nvSpPr>
        <p:spPr>
          <a:xfrm>
            <a:off x="8901684" y="2103120"/>
            <a:ext cx="2638044" cy="2103120"/>
          </a:xfrm>
          <a:prstGeom prst="roundRect">
            <a:avLst>
              <a:gd name="adj" fmla="val 3913"/>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66276" y="2267712"/>
            <a:ext cx="457200" cy="54864"/>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66276" y="2432303"/>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Reports</a:t>
            </a:r>
          </a:p>
        </p:txBody>
      </p:sp>
      <p:sp>
        <p:nvSpPr>
          <p:cNvPr id="22" name="TextBox 21"/>
          <p:cNvSpPr txBox="1"/>
          <p:nvPr/>
        </p:nvSpPr>
        <p:spPr>
          <a:xfrm>
            <a:off x="9066276" y="2761487"/>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Run manifests plus GeoJSON, CSV, GPKG, Parquet and GeoParquet you can defend later.</a:t>
            </a:r>
          </a:p>
        </p:txBody>
      </p:sp>
      <p:sp>
        <p:nvSpPr>
          <p:cNvPr id="23" name="Rounded Rectangle 22"/>
          <p:cNvSpPr/>
          <p:nvPr/>
        </p:nvSpPr>
        <p:spPr>
          <a:xfrm>
            <a:off x="658368" y="4617720"/>
            <a:ext cx="10881360" cy="1051560"/>
          </a:xfrm>
          <a:prstGeom prst="roundRect">
            <a:avLst>
              <a:gd name="adj" fmla="val 7826"/>
            </a:avLst>
          </a:prstGeom>
          <a:solidFill>
            <a:srgbClr val="101826"/>
          </a:solid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800600"/>
            <a:ext cx="10369296" cy="365760"/>
          </a:xfrm>
          <a:prstGeom prst="rect">
            <a:avLst/>
          </a:prstGeom>
          <a:noFill/>
        </p:spPr>
        <p:txBody>
          <a:bodyPr wrap="square" lIns="0" rIns="0" tIns="0" bIns="0">
            <a:spAutoFit/>
          </a:bodyPr>
          <a:lstStyle/>
          <a:p>
            <a:pPr algn="l">
              <a:lnSpc>
                <a:spcPct val="118000"/>
              </a:lnSpc>
              <a:spcAft>
                <a:spcPts val="432"/>
              </a:spcAft>
            </a:pPr>
            <a:r>
              <a:rPr sz="1300" b="1" i="0">
                <a:solidFill>
                  <a:srgbClr val="ECF1F8"/>
                </a:solidFill>
                <a:latin typeface="Arial"/>
              </a:rPr>
              <a:t>It reads OSM extracts and Overture Maps GeoParquet, imports GTFS, and keeps every derived artifact in one local directory.  </a:t>
            </a:r>
            <a:r>
              <a:rPr sz="1300" b="0" i="0">
                <a:solidFill>
                  <a:srgbClr val="93A2B8"/>
                </a:solidFill>
                <a:latin typeface="Arial"/>
              </a:rPr>
              <a:t>No database, no tile server, no services to babysit before you can ask a question.</a:t>
            </a:r>
          </a:p>
        </p:txBody>
      </p:sp>
      <p:sp>
        <p:nvSpPr>
          <p:cNvPr id="25" name="TextBox 2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26" name="TextBox 2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COST MODELS</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The ambulance question is a YAML file now</a:t>
            </a:r>
          </a:p>
        </p:txBody>
      </p:sp>
      <p:sp>
        <p:nvSpPr>
          <p:cNvPr id="6" name="TextBox 5"/>
          <p:cNvSpPr txBox="1"/>
          <p:nvPr/>
        </p:nvSpPr>
        <p:spPr>
          <a:xfrm>
            <a:off x="658368" y="1481328"/>
            <a:ext cx="576072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Speeds, surface factors, turn penalties, ferries, tolls: the whole cost model is a plain YAML profile. Edit, recompile in seconds, route again.</a:t>
            </a:r>
          </a:p>
        </p:txBody>
      </p:sp>
      <p:sp>
        <p:nvSpPr>
          <p:cNvPr id="7" name="Rounded Rectangle 6"/>
          <p:cNvSpPr/>
          <p:nvPr/>
        </p:nvSpPr>
        <p:spPr>
          <a:xfrm>
            <a:off x="658368" y="256489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514600"/>
            <a:ext cx="549554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A speed limit study becomes a diff.  </a:t>
            </a:r>
            <a:r>
              <a:rPr sz="1300" b="0" i="0">
                <a:solidFill>
                  <a:srgbClr val="93A2B8"/>
                </a:solidFill>
                <a:latin typeface="Arial"/>
              </a:rPr>
              <a:t>Two profiles, old and new motorway speeds, the same request batch, and a road-type breakdown on every route.</a:t>
            </a:r>
          </a:p>
        </p:txBody>
      </p:sp>
      <p:sp>
        <p:nvSpPr>
          <p:cNvPr id="9" name="Rounded Rectangle 8"/>
          <p:cNvSpPr/>
          <p:nvPr/>
        </p:nvSpPr>
        <p:spPr>
          <a:xfrm>
            <a:off x="658368" y="3707891"/>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657600"/>
            <a:ext cx="549554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Any mode you can describe.  </a:t>
            </a:r>
            <a:r>
              <a:rPr sz="1300" b="0" i="0">
                <a:solidFill>
                  <a:srgbClr val="93A2B8"/>
                </a:solidFill>
                <a:latin typeface="Arial"/>
              </a:rPr>
              <a:t>Car, bicycle, pedestrian, ambulance, or something that exists only in one study.</a:t>
            </a:r>
          </a:p>
        </p:txBody>
      </p:sp>
      <p:sp>
        <p:nvSpPr>
          <p:cNvPr id="11" name="Rounded Rectangle 10"/>
          <p:cNvSpPr/>
          <p:nvPr/>
        </p:nvSpPr>
        <p:spPr>
          <a:xfrm>
            <a:off x="658368" y="4850892"/>
            <a:ext cx="146304" cy="146304"/>
          </a:xfrm>
          <a:prstGeom prst="roundRect">
            <a:avLst>
              <a:gd name="adj" fmla="val 25000"/>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800600"/>
            <a:ext cx="549554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Readable by reviewers.  </a:t>
            </a:r>
            <a:r>
              <a:rPr sz="1300" b="0" i="0">
                <a:solidFill>
                  <a:srgbClr val="93A2B8"/>
                </a:solidFill>
                <a:latin typeface="Arial"/>
              </a:rPr>
              <a:t>The complete cost model fits in a paper appendix, version controlled next to the results.</a:t>
            </a:r>
          </a:p>
        </p:txBody>
      </p:sp>
      <p:sp>
        <p:nvSpPr>
          <p:cNvPr id="13" name="Rounded Rectangle 12"/>
          <p:cNvSpPr/>
          <p:nvPr/>
        </p:nvSpPr>
        <p:spPr>
          <a:xfrm>
            <a:off x="6858000" y="1481328"/>
            <a:ext cx="4663440" cy="4206240"/>
          </a:xfrm>
          <a:prstGeom prst="roundRect">
            <a:avLst>
              <a:gd name="adj" fmla="val 1956"/>
            </a:avLst>
          </a:prstGeom>
          <a:solidFill>
            <a:srgbClr val="0A0F18"/>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50608" y="1719072"/>
            <a:ext cx="4206240" cy="365760"/>
          </a:xfrm>
          <a:prstGeom prst="rect">
            <a:avLst/>
          </a:prstGeom>
          <a:noFill/>
        </p:spPr>
        <p:txBody>
          <a:bodyPr wrap="square" lIns="0" rIns="0" tIns="0" bIns="0">
            <a:spAutoFit/>
          </a:bodyPr>
          <a:lstStyle/>
          <a:p>
            <a:pPr algn="l">
              <a:lnSpc>
                <a:spcPct val="112000"/>
              </a:lnSpc>
              <a:spcAft>
                <a:spcPts val="432"/>
              </a:spcAft>
            </a:pPr>
            <a:r>
              <a:rPr sz="1100" b="0" i="0">
                <a:solidFill>
                  <a:srgbClr val="5A687C"/>
                </a:solidFill>
                <a:latin typeface="Courier New"/>
              </a:rPr>
              <a:t>ambulance_emergency_call_v1.yml</a:t>
            </a:r>
          </a:p>
        </p:txBody>
      </p:sp>
      <p:sp>
        <p:nvSpPr>
          <p:cNvPr id="15" name="TextBox 14"/>
          <p:cNvSpPr txBox="1"/>
          <p:nvPr/>
        </p:nvSpPr>
        <p:spPr>
          <a:xfrm>
            <a:off x="7150608" y="2084831"/>
            <a:ext cx="4206240" cy="365760"/>
          </a:xfrm>
          <a:prstGeom prst="rect">
            <a:avLst/>
          </a:prstGeom>
          <a:noFill/>
        </p:spPr>
        <p:txBody>
          <a:bodyPr wrap="square" lIns="0" rIns="0" tIns="0" bIns="0">
            <a:spAutoFit/>
          </a:bodyPr>
          <a:lstStyle/>
          <a:p>
            <a:pPr algn="l">
              <a:lnSpc>
                <a:spcPct val="118000"/>
              </a:lnSpc>
              <a:spcAft>
                <a:spcPts val="252"/>
              </a:spcAft>
            </a:pPr>
            <a:r>
              <a:rPr sz="1150" b="0" i="0">
                <a:solidFill>
                  <a:srgbClr val="2DE5A0"/>
                </a:solidFill>
                <a:latin typeface="Courier New"/>
              </a:rPr>
              <a:t>speed_rules</a:t>
            </a:r>
            <a:r>
              <a:rPr sz="1150" b="0" i="0">
                <a:solidFill>
                  <a:srgbClr val="C9D4E6"/>
                </a:solidFill>
                <a:latin typeface="Courier New"/>
              </a:rPr>
              <a:t>:</a:t>
            </a:r>
            <a:r>
              <a:rPr sz="1150" b="0" i="0">
                <a:solidFill>
                  <a:srgbClr val="4FC3F7"/>
                </a:solidFill>
                <a:latin typeface="Courier New"/>
              </a:rPr>
              <a:t/>
            </a:r>
          </a:p>
          <a:p>
            <a:pPr algn="l">
              <a:lnSpc>
                <a:spcPct val="118000"/>
              </a:lnSpc>
              <a:spcAft>
                <a:spcPts val="252"/>
              </a:spcAft>
            </a:pPr>
            <a:r>
              <a:rPr sz="1150" b="0" i="0">
                <a:solidFill>
                  <a:srgbClr val="2DE5A0"/>
                </a:solidFill>
                <a:latin typeface="Courier New"/>
              </a:rPr>
              <a:t>  - match</a:t>
            </a:r>
            <a:r>
              <a:rPr sz="1150" b="0" i="0">
                <a:solidFill>
                  <a:srgbClr val="C9D4E6"/>
                </a:solidFill>
                <a:latin typeface="Courier New"/>
              </a:rPr>
              <a:t>:</a:t>
            </a:r>
            <a:r>
              <a:rPr sz="1150" b="0" i="0">
                <a:solidFill>
                  <a:srgbClr val="4FC3F7"/>
                </a:solidFill>
                <a:latin typeface="Courier New"/>
              </a:rPr>
              <a:t> { highway: motorway }</a:t>
            </a:r>
          </a:p>
          <a:p>
            <a:pPr algn="l">
              <a:lnSpc>
                <a:spcPct val="118000"/>
              </a:lnSpc>
              <a:spcAft>
                <a:spcPts val="252"/>
              </a:spcAft>
            </a:pPr>
            <a:r>
              <a:rPr sz="1150" b="0" i="0">
                <a:solidFill>
                  <a:srgbClr val="2DE5A0"/>
                </a:solidFill>
                <a:latin typeface="Courier New"/>
              </a:rPr>
              <a:t>    speed_kph</a:t>
            </a:r>
            <a:r>
              <a:rPr sz="1150" b="0" i="0">
                <a:solidFill>
                  <a:srgbClr val="C9D4E6"/>
                </a:solidFill>
                <a:latin typeface="Courier New"/>
              </a:rPr>
              <a:t>:</a:t>
            </a:r>
            <a:r>
              <a:rPr sz="1150" b="0" i="0">
                <a:solidFill>
                  <a:srgbClr val="FFC14E"/>
                </a:solidFill>
                <a:latin typeface="Courier New"/>
              </a:rPr>
              <a:t> 150</a:t>
            </a:r>
          </a:p>
          <a:p>
            <a:pPr algn="l">
              <a:lnSpc>
                <a:spcPct val="118000"/>
              </a:lnSpc>
              <a:spcAft>
                <a:spcPts val="252"/>
              </a:spcAft>
            </a:pPr>
            <a:r>
              <a:rPr sz="1150" b="0" i="0">
                <a:solidFill>
                  <a:srgbClr val="2DE5A0"/>
                </a:solidFill>
                <a:latin typeface="Courier New"/>
              </a:rPr>
              <a:t>factors</a:t>
            </a:r>
            <a:r>
              <a:rPr sz="1150" b="0" i="0">
                <a:solidFill>
                  <a:srgbClr val="C9D4E6"/>
                </a:solidFill>
                <a:latin typeface="Courier New"/>
              </a:rPr>
              <a:t>:</a:t>
            </a:r>
            <a:r>
              <a:rPr sz="1150" b="0" i="0">
                <a:solidFill>
                  <a:srgbClr val="4FC3F7"/>
                </a:solidFill>
                <a:latin typeface="Courier New"/>
              </a:rPr>
              <a:t/>
            </a:r>
          </a:p>
          <a:p>
            <a:pPr algn="l">
              <a:lnSpc>
                <a:spcPct val="118000"/>
              </a:lnSpc>
              <a:spcAft>
                <a:spcPts val="252"/>
              </a:spcAft>
            </a:pPr>
            <a:r>
              <a:rPr sz="1150" b="0" i="0">
                <a:solidFill>
                  <a:srgbClr val="2DE5A0"/>
                </a:solidFill>
                <a:latin typeface="Courier New"/>
              </a:rPr>
              <a:t>  - match</a:t>
            </a:r>
            <a:r>
              <a:rPr sz="1150" b="0" i="0">
                <a:solidFill>
                  <a:srgbClr val="C9D4E6"/>
                </a:solidFill>
                <a:latin typeface="Courier New"/>
              </a:rPr>
              <a:t>:</a:t>
            </a:r>
            <a:r>
              <a:rPr sz="1150" b="0" i="0">
                <a:solidFill>
                  <a:srgbClr val="4FC3F7"/>
                </a:solidFill>
                <a:latin typeface="Courier New"/>
              </a:rPr>
              <a:t> { surface: sand }</a:t>
            </a:r>
          </a:p>
          <a:p>
            <a:pPr algn="l">
              <a:lnSpc>
                <a:spcPct val="118000"/>
              </a:lnSpc>
              <a:spcAft>
                <a:spcPts val="252"/>
              </a:spcAft>
            </a:pPr>
            <a:r>
              <a:rPr sz="1150" b="0" i="0">
                <a:solidFill>
                  <a:srgbClr val="2DE5A0"/>
                </a:solidFill>
                <a:latin typeface="Courier New"/>
              </a:rPr>
              <a:t>    speed_factor</a:t>
            </a:r>
            <a:r>
              <a:rPr sz="1150" b="0" i="0">
                <a:solidFill>
                  <a:srgbClr val="C9D4E6"/>
                </a:solidFill>
                <a:latin typeface="Courier New"/>
              </a:rPr>
              <a:t>:</a:t>
            </a:r>
            <a:r>
              <a:rPr sz="1150" b="0" i="0">
                <a:solidFill>
                  <a:srgbClr val="FFC14E"/>
                </a:solidFill>
                <a:latin typeface="Courier New"/>
              </a:rPr>
              <a:t> 0.25</a:t>
            </a:r>
          </a:p>
          <a:p>
            <a:pPr algn="l">
              <a:lnSpc>
                <a:spcPct val="118000"/>
              </a:lnSpc>
              <a:spcAft>
                <a:spcPts val="252"/>
              </a:spcAft>
            </a:pPr>
            <a:r>
              <a:rPr sz="1150" b="0" i="0">
                <a:solidFill>
                  <a:srgbClr val="2DE5A0"/>
                </a:solidFill>
                <a:latin typeface="Courier New"/>
              </a:rPr>
              <a:t>  - match</a:t>
            </a:r>
            <a:r>
              <a:rPr sz="1150" b="0" i="0">
                <a:solidFill>
                  <a:srgbClr val="C9D4E6"/>
                </a:solidFill>
                <a:latin typeface="Courier New"/>
              </a:rPr>
              <a:t>:</a:t>
            </a:r>
            <a:r>
              <a:rPr sz="1150" b="0" i="0">
                <a:solidFill>
                  <a:srgbClr val="4FC3F7"/>
                </a:solidFill>
                <a:latin typeface="Courier New"/>
              </a:rPr>
              <a:t> { smoothness: impassable }</a:t>
            </a:r>
          </a:p>
          <a:p>
            <a:pPr algn="l">
              <a:lnSpc>
                <a:spcPct val="118000"/>
              </a:lnSpc>
              <a:spcAft>
                <a:spcPts val="252"/>
              </a:spcAft>
            </a:pPr>
            <a:r>
              <a:rPr sz="1150" b="0" i="0">
                <a:solidFill>
                  <a:srgbClr val="2DE5A0"/>
                </a:solidFill>
                <a:latin typeface="Courier New"/>
              </a:rPr>
              <a:t>    speed_factor</a:t>
            </a:r>
            <a:r>
              <a:rPr sz="1150" b="0" i="0">
                <a:solidFill>
                  <a:srgbClr val="C9D4E6"/>
                </a:solidFill>
                <a:latin typeface="Courier New"/>
              </a:rPr>
              <a:t>:</a:t>
            </a:r>
            <a:r>
              <a:rPr sz="1150" b="0" i="0">
                <a:solidFill>
                  <a:srgbClr val="FFC14E"/>
                </a:solidFill>
                <a:latin typeface="Courier New"/>
              </a:rPr>
              <a:t> 0.08</a:t>
            </a:r>
          </a:p>
          <a:p>
            <a:pPr algn="l">
              <a:lnSpc>
                <a:spcPct val="118000"/>
              </a:lnSpc>
              <a:spcAft>
                <a:spcPts val="252"/>
              </a:spcAft>
            </a:pPr>
            <a:r>
              <a:rPr sz="1150" b="0" i="0">
                <a:solidFill>
                  <a:srgbClr val="2DE5A0"/>
                </a:solidFill>
                <a:latin typeface="Courier New"/>
              </a:rPr>
              <a:t>turns</a:t>
            </a:r>
            <a:r>
              <a:rPr sz="1150" b="0" i="0">
                <a:solidFill>
                  <a:srgbClr val="C9D4E6"/>
                </a:solidFill>
                <a:latin typeface="Courier New"/>
              </a:rPr>
              <a:t>:</a:t>
            </a:r>
            <a:r>
              <a:rPr sz="1150" b="0" i="0">
                <a:solidFill>
                  <a:srgbClr val="4FC3F7"/>
                </a:solidFill>
                <a:latin typeface="Courier New"/>
              </a:rPr>
              <a:t/>
            </a:r>
          </a:p>
          <a:p>
            <a:pPr algn="l">
              <a:lnSpc>
                <a:spcPct val="118000"/>
              </a:lnSpc>
              <a:spcAft>
                <a:spcPts val="252"/>
              </a:spcAft>
            </a:pPr>
            <a:r>
              <a:rPr sz="1150" b="0" i="0">
                <a:solidFill>
                  <a:srgbClr val="2DE5A0"/>
                </a:solidFill>
                <a:latin typeface="Courier New"/>
              </a:rPr>
              <a:t>  uturn_penalty_s</a:t>
            </a:r>
            <a:r>
              <a:rPr sz="1150" b="0" i="0">
                <a:solidFill>
                  <a:srgbClr val="C9D4E6"/>
                </a:solidFill>
                <a:latin typeface="Courier New"/>
              </a:rPr>
              <a:t>:</a:t>
            </a:r>
            <a:r>
              <a:rPr sz="1150" b="0" i="0">
                <a:solidFill>
                  <a:srgbClr val="FFC14E"/>
                </a:solidFill>
                <a:latin typeface="Courier New"/>
              </a:rPr>
              <a:t> 12</a:t>
            </a:r>
          </a:p>
          <a:p>
            <a:pPr algn="l">
              <a:lnSpc>
                <a:spcPct val="118000"/>
              </a:lnSpc>
              <a:spcAft>
                <a:spcPts val="252"/>
              </a:spcAft>
            </a:pPr>
            <a:r>
              <a:rPr sz="1150" b="0" i="0">
                <a:solidFill>
                  <a:srgbClr val="2DE5A0"/>
                </a:solidFill>
                <a:latin typeface="Courier New"/>
              </a:rPr>
              <a:t>preferences</a:t>
            </a:r>
            <a:r>
              <a:rPr sz="1150" b="0" i="0">
                <a:solidFill>
                  <a:srgbClr val="C9D4E6"/>
                </a:solidFill>
                <a:latin typeface="Courier New"/>
              </a:rPr>
              <a:t>:</a:t>
            </a:r>
            <a:r>
              <a:rPr sz="1150" b="0" i="0">
                <a:solidFill>
                  <a:srgbClr val="4FC3F7"/>
                </a:solidFill>
                <a:latin typeface="Courier New"/>
              </a:rPr>
              <a:t/>
            </a:r>
          </a:p>
          <a:p>
            <a:pPr algn="l">
              <a:lnSpc>
                <a:spcPct val="118000"/>
              </a:lnSpc>
              <a:spcAft>
                <a:spcPts val="252"/>
              </a:spcAft>
            </a:pPr>
            <a:r>
              <a:rPr sz="1150" b="0" i="0">
                <a:solidFill>
                  <a:srgbClr val="2DE5A0"/>
                </a:solidFill>
                <a:latin typeface="Courier New"/>
              </a:rPr>
              <a:t>  use_tolls</a:t>
            </a:r>
            <a:r>
              <a:rPr sz="1150" b="0" i="0">
                <a:solidFill>
                  <a:srgbClr val="C9D4E6"/>
                </a:solidFill>
                <a:latin typeface="Courier New"/>
              </a:rPr>
              <a:t>:</a:t>
            </a:r>
            <a:r>
              <a:rPr sz="1150" b="0" i="0">
                <a:solidFill>
                  <a:srgbClr val="FFC14E"/>
                </a:solidFill>
                <a:latin typeface="Courier New"/>
              </a:rPr>
              <a:t> 1.0</a:t>
            </a:r>
          </a:p>
          <a:p>
            <a:pPr algn="l">
              <a:lnSpc>
                <a:spcPct val="118000"/>
              </a:lnSpc>
              <a:spcAft>
                <a:spcPts val="252"/>
              </a:spcAft>
            </a:pPr>
            <a:r>
              <a:rPr sz="1150" b="0" i="0">
                <a:solidFill>
                  <a:srgbClr val="2DE5A0"/>
                </a:solidFill>
                <a:latin typeface="Courier New"/>
              </a:rPr>
              <a:t>returns</a:t>
            </a:r>
            <a:r>
              <a:rPr sz="1150" b="0" i="0">
                <a:solidFill>
                  <a:srgbClr val="C9D4E6"/>
                </a:solidFill>
                <a:latin typeface="Courier New"/>
              </a:rPr>
              <a:t>:</a:t>
            </a:r>
            <a:r>
              <a:rPr sz="1150" b="0" i="0">
                <a:solidFill>
                  <a:srgbClr val="4FC3F7"/>
                </a:solidFill>
                <a:latin typeface="Courier New"/>
              </a:rPr>
              <a:t/>
            </a:r>
          </a:p>
          <a:p>
            <a:pPr algn="l">
              <a:lnSpc>
                <a:spcPct val="118000"/>
              </a:lnSpc>
              <a:spcAft>
                <a:spcPts val="252"/>
              </a:spcAft>
            </a:pPr>
            <a:r>
              <a:rPr sz="1150" b="0" i="0">
                <a:solidFill>
                  <a:srgbClr val="2DE5A0"/>
                </a:solidFill>
                <a:latin typeface="Courier New"/>
              </a:rPr>
              <a:t>  explain_cost_derivation</a:t>
            </a:r>
            <a:r>
              <a:rPr sz="1150" b="0" i="0">
                <a:solidFill>
                  <a:srgbClr val="C9D4E6"/>
                </a:solidFill>
                <a:latin typeface="Courier New"/>
              </a:rPr>
              <a:t>:</a:t>
            </a:r>
            <a:r>
              <a:rPr sz="1150" b="0" i="0">
                <a:solidFill>
                  <a:srgbClr val="4FC3F7"/>
                </a:solidFill>
                <a:latin typeface="Courier New"/>
              </a:rPr>
              <a:t> true</a:t>
            </a:r>
          </a:p>
        </p:txBody>
      </p:sp>
      <p:sp>
        <p:nvSpPr>
          <p:cNvPr id="16" name="TextBox 15"/>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7" name="TextBox 16"/>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THE TOOLBOX</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The standard answers, one engine</a:t>
            </a:r>
          </a:p>
        </p:txBody>
      </p:sp>
      <p:sp>
        <p:nvSpPr>
          <p:cNvPr id="6" name="TextBox 5"/>
          <p:cNvSpPr txBox="1"/>
          <p:nvPr/>
        </p:nvSpPr>
        <p:spPr>
          <a:xfrm>
            <a:off x="658368" y="1481328"/>
            <a:ext cx="58521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The everyday request types are native, with no glue code between them:</a:t>
            </a:r>
          </a:p>
        </p:txBody>
      </p:sp>
      <p:sp>
        <p:nvSpPr>
          <p:cNvPr id="7" name="Rounded Rectangle 6"/>
          <p:cNvSpPr/>
          <p:nvPr/>
        </p:nvSpPr>
        <p:spPr>
          <a:xfrm>
            <a:off x="658368" y="219913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148840"/>
            <a:ext cx="5541264" cy="365760"/>
          </a:xfrm>
          <a:prstGeom prst="rect">
            <a:avLst/>
          </a:prstGeom>
          <a:noFill/>
        </p:spPr>
        <p:txBody>
          <a:bodyPr wrap="square" lIns="0" rIns="0" tIns="0" bIns="0">
            <a:spAutoFit/>
          </a:bodyPr>
          <a:lstStyle/>
          <a:p>
            <a:pPr algn="l">
              <a:lnSpc>
                <a:spcPct val="116000"/>
              </a:lnSpc>
              <a:spcAft>
                <a:spcPts val="432"/>
              </a:spcAft>
            </a:pPr>
            <a:r>
              <a:rPr sz="1350" b="1" i="0">
                <a:solidFill>
                  <a:srgbClr val="ECF1F8"/>
                </a:solidFill>
                <a:latin typeface="Arial"/>
              </a:rPr>
              <a:t>Route  </a:t>
            </a:r>
            <a:r>
              <a:rPr sz="1350" b="0" i="0">
                <a:solidFill>
                  <a:srgbClr val="93A2B8"/>
                </a:solidFill>
                <a:latin typeface="Arial"/>
              </a:rPr>
              <a:t>single path, ranked alternatives, full geometry.</a:t>
            </a:r>
          </a:p>
        </p:txBody>
      </p:sp>
      <p:sp>
        <p:nvSpPr>
          <p:cNvPr id="9" name="Rounded Rectangle 8"/>
          <p:cNvSpPr/>
          <p:nvPr/>
        </p:nvSpPr>
        <p:spPr>
          <a:xfrm>
            <a:off x="658368" y="2875788"/>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825496"/>
            <a:ext cx="5541264" cy="365760"/>
          </a:xfrm>
          <a:prstGeom prst="rect">
            <a:avLst/>
          </a:prstGeom>
          <a:noFill/>
        </p:spPr>
        <p:txBody>
          <a:bodyPr wrap="square" lIns="0" rIns="0" tIns="0" bIns="0">
            <a:spAutoFit/>
          </a:bodyPr>
          <a:lstStyle/>
          <a:p>
            <a:pPr algn="l">
              <a:lnSpc>
                <a:spcPct val="116000"/>
              </a:lnSpc>
              <a:spcAft>
                <a:spcPts val="432"/>
              </a:spcAft>
            </a:pPr>
            <a:r>
              <a:rPr sz="1350" b="1" i="0">
                <a:solidFill>
                  <a:srgbClr val="ECF1F8"/>
                </a:solidFill>
                <a:latin typeface="Arial"/>
              </a:rPr>
              <a:t>Route batch  </a:t>
            </a:r>
            <a:r>
              <a:rPr sz="1350" b="0" i="0">
                <a:solidFill>
                  <a:srgbClr val="93A2B8"/>
                </a:solidFill>
                <a:latin typeface="Arial"/>
              </a:rPr>
              <a:t>thousands of routes in one deterministic run.</a:t>
            </a:r>
          </a:p>
        </p:txBody>
      </p:sp>
      <p:sp>
        <p:nvSpPr>
          <p:cNvPr id="11" name="Rounded Rectangle 10"/>
          <p:cNvSpPr/>
          <p:nvPr/>
        </p:nvSpPr>
        <p:spPr>
          <a:xfrm>
            <a:off x="658368" y="3552444"/>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3502152"/>
            <a:ext cx="5541264" cy="365760"/>
          </a:xfrm>
          <a:prstGeom prst="rect">
            <a:avLst/>
          </a:prstGeom>
          <a:noFill/>
        </p:spPr>
        <p:txBody>
          <a:bodyPr wrap="square" lIns="0" rIns="0" tIns="0" bIns="0">
            <a:spAutoFit/>
          </a:bodyPr>
          <a:lstStyle/>
          <a:p>
            <a:pPr algn="l">
              <a:lnSpc>
                <a:spcPct val="116000"/>
              </a:lnSpc>
              <a:spcAft>
                <a:spcPts val="432"/>
              </a:spcAft>
            </a:pPr>
            <a:r>
              <a:rPr sz="1350" b="1" i="0">
                <a:solidFill>
                  <a:srgbClr val="ECF1F8"/>
                </a:solidFill>
                <a:latin typeface="Arial"/>
              </a:rPr>
              <a:t>OD pairs  </a:t>
            </a:r>
            <a:r>
              <a:rPr sz="1350" b="0" i="0">
                <a:solidFill>
                  <a:srgbClr val="93A2B8"/>
                </a:solidFill>
                <a:latin typeface="Arial"/>
              </a:rPr>
              <a:t>origins to destinations from CSV or JSON.</a:t>
            </a:r>
          </a:p>
        </p:txBody>
      </p:sp>
      <p:sp>
        <p:nvSpPr>
          <p:cNvPr id="13" name="Rounded Rectangle 12"/>
          <p:cNvSpPr/>
          <p:nvPr/>
        </p:nvSpPr>
        <p:spPr>
          <a:xfrm>
            <a:off x="658368" y="4229100"/>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178808"/>
            <a:ext cx="5541264" cy="365760"/>
          </a:xfrm>
          <a:prstGeom prst="rect">
            <a:avLst/>
          </a:prstGeom>
          <a:noFill/>
        </p:spPr>
        <p:txBody>
          <a:bodyPr wrap="square" lIns="0" rIns="0" tIns="0" bIns="0">
            <a:spAutoFit/>
          </a:bodyPr>
          <a:lstStyle/>
          <a:p>
            <a:pPr algn="l">
              <a:lnSpc>
                <a:spcPct val="116000"/>
              </a:lnSpc>
              <a:spcAft>
                <a:spcPts val="432"/>
              </a:spcAft>
            </a:pPr>
            <a:r>
              <a:rPr sz="1350" b="1" i="0">
                <a:solidFill>
                  <a:srgbClr val="ECF1F8"/>
                </a:solidFill>
                <a:latin typeface="Arial"/>
              </a:rPr>
              <a:t>Matrix  </a:t>
            </a:r>
            <a:r>
              <a:rPr sz="1350" b="0" i="0">
                <a:solidFill>
                  <a:srgbClr val="93A2B8"/>
                </a:solidFill>
                <a:latin typeface="Arial"/>
              </a:rPr>
              <a:t>many-to-many time and distance.</a:t>
            </a:r>
          </a:p>
        </p:txBody>
      </p:sp>
      <p:sp>
        <p:nvSpPr>
          <p:cNvPr id="15" name="Rounded Rectangle 14"/>
          <p:cNvSpPr/>
          <p:nvPr/>
        </p:nvSpPr>
        <p:spPr>
          <a:xfrm>
            <a:off x="658368" y="4905756"/>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855464"/>
            <a:ext cx="5541264" cy="365760"/>
          </a:xfrm>
          <a:prstGeom prst="rect">
            <a:avLst/>
          </a:prstGeom>
          <a:noFill/>
        </p:spPr>
        <p:txBody>
          <a:bodyPr wrap="square" lIns="0" rIns="0" tIns="0" bIns="0">
            <a:spAutoFit/>
          </a:bodyPr>
          <a:lstStyle/>
          <a:p>
            <a:pPr algn="l">
              <a:lnSpc>
                <a:spcPct val="116000"/>
              </a:lnSpc>
              <a:spcAft>
                <a:spcPts val="432"/>
              </a:spcAft>
            </a:pPr>
            <a:r>
              <a:rPr sz="1350" b="1" i="0">
                <a:solidFill>
                  <a:srgbClr val="ECF1F8"/>
                </a:solidFill>
                <a:latin typeface="Arial"/>
              </a:rPr>
              <a:t>Service area  </a:t>
            </a:r>
            <a:r>
              <a:rPr sz="1350" b="0" i="0">
                <a:solidFill>
                  <a:srgbClr val="93A2B8"/>
                </a:solidFill>
                <a:latin typeface="Arial"/>
              </a:rPr>
              <a:t>isochrones and the reachable network itself.</a:t>
            </a:r>
          </a:p>
        </p:txBody>
      </p:sp>
      <p:sp>
        <p:nvSpPr>
          <p:cNvPr id="17" name="Rounded Rectangle 16"/>
          <p:cNvSpPr/>
          <p:nvPr/>
        </p:nvSpPr>
        <p:spPr>
          <a:xfrm>
            <a:off x="658368" y="558241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532120"/>
            <a:ext cx="5541264" cy="365760"/>
          </a:xfrm>
          <a:prstGeom prst="rect">
            <a:avLst/>
          </a:prstGeom>
          <a:noFill/>
        </p:spPr>
        <p:txBody>
          <a:bodyPr wrap="square" lIns="0" rIns="0" tIns="0" bIns="0">
            <a:spAutoFit/>
          </a:bodyPr>
          <a:lstStyle/>
          <a:p>
            <a:pPr algn="l">
              <a:lnSpc>
                <a:spcPct val="116000"/>
              </a:lnSpc>
              <a:spcAft>
                <a:spcPts val="432"/>
              </a:spcAft>
            </a:pPr>
            <a:r>
              <a:rPr sz="1350" b="1" i="0">
                <a:solidFill>
                  <a:srgbClr val="ECF1F8"/>
                </a:solidFill>
                <a:latin typeface="Arial"/>
              </a:rPr>
              <a:t>Accessibility  </a:t>
            </a:r>
            <a:r>
              <a:rPr sz="1350" b="0" i="0">
                <a:solidFill>
                  <a:srgbClr val="93A2B8"/>
                </a:solidFill>
                <a:latin typeface="Arial"/>
              </a:rPr>
              <a:t>who can reach what, scored across the network.</a:t>
            </a:r>
          </a:p>
        </p:txBody>
      </p:sp>
      <p:pic>
        <p:nvPicPr>
          <p:cNvPr id="19" name="Picture 18" descr="fig_service_area.png"/>
          <p:cNvPicPr>
            <a:picLocks noChangeAspect="1"/>
          </p:cNvPicPr>
          <p:nvPr/>
        </p:nvPicPr>
        <p:blipFill>
          <a:blip r:embed="rId2"/>
          <a:stretch>
            <a:fillRect/>
          </a:stretch>
        </p:blipFill>
        <p:spPr>
          <a:xfrm>
            <a:off x="6821424" y="1497864"/>
            <a:ext cx="4718304" cy="4685231"/>
          </a:xfrm>
          <a:prstGeom prst="rect">
            <a:avLst/>
          </a:prstGeom>
        </p:spPr>
      </p:pic>
      <p:sp>
        <p:nvSpPr>
          <p:cNvPr id="20" name="Rounded Rectangle 19"/>
          <p:cNvSpPr/>
          <p:nvPr/>
        </p:nvSpPr>
        <p:spPr>
          <a:xfrm>
            <a:off x="6821424" y="1497864"/>
            <a:ext cx="4718304" cy="4685231"/>
          </a:xfrm>
          <a:prstGeom prst="roundRect">
            <a:avLst>
              <a:gd name="adj" fmla="val 1500"/>
            </a:avLst>
          </a:prstGeom>
          <a:no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22" name="TextBox 21"/>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SUBOPTIMAL PATHS</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What does the second-best route cost?</a:t>
            </a:r>
          </a:p>
        </p:txBody>
      </p:sp>
      <p:sp>
        <p:nvSpPr>
          <p:cNvPr id="6" name="TextBox 5"/>
          <p:cNvSpPr txBox="1"/>
          <p:nvPr/>
        </p:nvSpPr>
        <p:spPr>
          <a:xfrm>
            <a:off x="658368" y="1481328"/>
            <a:ext cx="58521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What happens when vehicles do not take the optimal path? That question came up more often than almost any other.</a:t>
            </a:r>
          </a:p>
        </p:txBody>
      </p:sp>
      <p:sp>
        <p:nvSpPr>
          <p:cNvPr id="7" name="Rounded Rectangle 6"/>
          <p:cNvSpPr/>
          <p:nvPr/>
        </p:nvSpPr>
        <p:spPr>
          <a:xfrm>
            <a:off x="658368" y="242773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7744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Ranked alternatives with price tags.  </a:t>
            </a:r>
            <a:r>
              <a:rPr sz="1300" b="0" i="0">
                <a:solidFill>
                  <a:srgbClr val="93A2B8"/>
                </a:solidFill>
                <a:latin typeface="Arial"/>
              </a:rPr>
              <a:t>Each alternative reports its extra minutes and metres against the optimum, so suboptimality is measurable, not vague.</a:t>
            </a:r>
          </a:p>
        </p:txBody>
      </p:sp>
      <p:sp>
        <p:nvSpPr>
          <p:cNvPr id="9" name="Rounded Rectangle 8"/>
          <p:cNvSpPr/>
          <p:nvPr/>
        </p:nvSpPr>
        <p:spPr>
          <a:xfrm>
            <a:off x="658368" y="3616452"/>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56616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Useful far beyond navigation.  </a:t>
            </a:r>
            <a:r>
              <a:rPr sz="1300" b="0" i="0">
                <a:solidFill>
                  <a:srgbClr val="93A2B8"/>
                </a:solidFill>
                <a:latin typeface="Arial"/>
              </a:rPr>
              <a:t>Exposure studies, fleet dispersion, believable simulated traffic, sensitivity checks on a corridor before roadworks.</a:t>
            </a:r>
          </a:p>
        </p:txBody>
      </p:sp>
      <p:sp>
        <p:nvSpPr>
          <p:cNvPr id="11" name="Rounded Rectangle 10"/>
          <p:cNvSpPr/>
          <p:nvPr/>
        </p:nvSpPr>
        <p:spPr>
          <a:xfrm>
            <a:off x="658368" y="4805172"/>
            <a:ext cx="146304" cy="146304"/>
          </a:xfrm>
          <a:prstGeom prst="roundRect">
            <a:avLst>
              <a:gd name="adj" fmla="val 25000"/>
            </a:avLst>
          </a:prstGeom>
          <a:solidFill>
            <a:srgbClr val="B9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75488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Same guarantees as the main route.  </a:t>
            </a:r>
            <a:r>
              <a:rPr sz="1300" b="0" i="0">
                <a:solidFill>
                  <a:srgbClr val="93A2B8"/>
                </a:solidFill>
                <a:latin typeface="Arial"/>
              </a:rPr>
              <a:t>Alternatives respect the same profile, restrictions and breakdowns as the optimal path.</a:t>
            </a:r>
          </a:p>
        </p:txBody>
      </p:sp>
      <p:pic>
        <p:nvPicPr>
          <p:cNvPr id="13" name="Picture 12" descr="fig_alternatives.png"/>
          <p:cNvPicPr>
            <a:picLocks noChangeAspect="1"/>
          </p:cNvPicPr>
          <p:nvPr/>
        </p:nvPicPr>
        <p:blipFill>
          <a:blip r:embed="rId2"/>
          <a:stretch>
            <a:fillRect/>
          </a:stretch>
        </p:blipFill>
        <p:spPr>
          <a:xfrm>
            <a:off x="6821424" y="1636876"/>
            <a:ext cx="4718304" cy="4407207"/>
          </a:xfrm>
          <a:prstGeom prst="rect">
            <a:avLst/>
          </a:prstGeom>
        </p:spPr>
      </p:pic>
      <p:sp>
        <p:nvSpPr>
          <p:cNvPr id="14" name="Rounded Rectangle 13"/>
          <p:cNvSpPr/>
          <p:nvPr/>
        </p:nvSpPr>
        <p:spPr>
          <a:xfrm>
            <a:off x="6821424" y="1636876"/>
            <a:ext cx="4718304" cy="4407207"/>
          </a:xfrm>
          <a:prstGeom prst="roundRect">
            <a:avLst>
              <a:gd name="adj" fmla="val 1500"/>
            </a:avLst>
          </a:prstGeom>
          <a:no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6" name="TextBox 1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MULTIMODAL</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What would the Lelylijn actually change?</a:t>
            </a:r>
          </a:p>
        </p:txBody>
      </p:sp>
      <p:sp>
        <p:nvSpPr>
          <p:cNvPr id="6" name="TextBox 5"/>
          <p:cNvSpPr txBox="1"/>
          <p:nvPr/>
        </p:nvSpPr>
        <p:spPr>
          <a:xfrm>
            <a:off x="658368" y="1481328"/>
            <a:ext cx="58521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GTFS feeds import next to the road network, and journeys stitch walking and scheduled services together.</a:t>
            </a:r>
          </a:p>
        </p:txBody>
      </p:sp>
      <p:sp>
        <p:nvSpPr>
          <p:cNvPr id="7" name="Rounded Rectangle 6"/>
          <p:cNvSpPr/>
          <p:nvPr/>
        </p:nvSpPr>
        <p:spPr>
          <a:xfrm>
            <a:off x="658368" y="2427732"/>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7744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Accessibility, before and after.  </a:t>
            </a:r>
            <a:r>
              <a:rPr sz="1300" b="0" i="0">
                <a:solidFill>
                  <a:srgbClr val="93A2B8"/>
                </a:solidFill>
                <a:latin typeface="Arial"/>
              </a:rPr>
              <a:t>Run transit reach on today's feed. Add the hypothetical line as ordinary GTFS rows, run it again, difference the surfaces.</a:t>
            </a:r>
          </a:p>
        </p:txBody>
      </p:sp>
      <p:sp>
        <p:nvSpPr>
          <p:cNvPr id="9" name="Rounded Rectangle 8"/>
          <p:cNvSpPr/>
          <p:nvPr/>
        </p:nvSpPr>
        <p:spPr>
          <a:xfrm>
            <a:off x="658368" y="361645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56616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Real schedules, real transfers.  </a:t>
            </a:r>
            <a:r>
              <a:rPr sz="1300" b="0" i="0">
                <a:solidFill>
                  <a:srgbClr val="93A2B8"/>
                </a:solidFill>
                <a:latin typeface="Arial"/>
              </a:rPr>
              <a:t>Service dates, transfer times and access walks are part of the query, not an afterthought.</a:t>
            </a:r>
          </a:p>
        </p:txBody>
      </p:sp>
      <p:sp>
        <p:nvSpPr>
          <p:cNvPr id="11" name="Rounded Rectangle 10"/>
          <p:cNvSpPr/>
          <p:nvPr/>
        </p:nvSpPr>
        <p:spPr>
          <a:xfrm>
            <a:off x="658368" y="4805172"/>
            <a:ext cx="146304" cy="146304"/>
          </a:xfrm>
          <a:prstGeom prst="roundRect">
            <a:avLst>
              <a:gd name="adj" fmla="val 25000"/>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75488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Time of day matters.  </a:t>
            </a:r>
            <a:r>
              <a:rPr sz="1300" b="0" i="0">
                <a:solidFill>
                  <a:srgbClr val="93A2B8"/>
                </a:solidFill>
                <a:latin typeface="Arial"/>
              </a:rPr>
              <a:t>Reach at 08:00 is not reach at 22:00. The query takes a clock time.</a:t>
            </a:r>
          </a:p>
        </p:txBody>
      </p:sp>
      <p:pic>
        <p:nvPicPr>
          <p:cNvPr id="13" name="Picture 12" descr="fig_transit.png"/>
          <p:cNvPicPr>
            <a:picLocks noChangeAspect="1"/>
          </p:cNvPicPr>
          <p:nvPr/>
        </p:nvPicPr>
        <p:blipFill>
          <a:blip r:embed="rId2"/>
          <a:stretch>
            <a:fillRect/>
          </a:stretch>
        </p:blipFill>
        <p:spPr>
          <a:xfrm>
            <a:off x="6821424" y="1636876"/>
            <a:ext cx="4718304" cy="4407207"/>
          </a:xfrm>
          <a:prstGeom prst="rect">
            <a:avLst/>
          </a:prstGeom>
        </p:spPr>
      </p:pic>
      <p:sp>
        <p:nvSpPr>
          <p:cNvPr id="14" name="Rounded Rectangle 13"/>
          <p:cNvSpPr/>
          <p:nvPr/>
        </p:nvSpPr>
        <p:spPr>
          <a:xfrm>
            <a:off x="6821424" y="1636876"/>
            <a:ext cx="4718304" cy="4407207"/>
          </a:xfrm>
          <a:prstGeom prst="roundRect">
            <a:avLst>
              <a:gd name="adj" fmla="val 1500"/>
            </a:avLst>
          </a:prstGeom>
          <a:no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6" name="TextBox 1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BEYOND ROUTING</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Agent-based traffic, in the same tool</a:t>
            </a:r>
          </a:p>
        </p:txBody>
      </p:sp>
      <p:sp>
        <p:nvSpPr>
          <p:cNvPr id="6" name="TextBox 5"/>
          <p:cNvSpPr txBox="1"/>
          <p:nvPr/>
        </p:nvSpPr>
        <p:spPr>
          <a:xfrm>
            <a:off x="658368" y="1481328"/>
            <a:ext cx="58521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Dispatch a fleet over the real network and watch congestion emerge: queues, rerouting, zones, closures.</a:t>
            </a:r>
          </a:p>
        </p:txBody>
      </p:sp>
      <p:sp>
        <p:nvSpPr>
          <p:cNvPr id="7" name="Rounded Rectangle 6"/>
          <p:cNvSpPr/>
          <p:nvPr/>
        </p:nvSpPr>
        <p:spPr>
          <a:xfrm>
            <a:off x="658368" y="2427732"/>
            <a:ext cx="146304" cy="146304"/>
          </a:xfrm>
          <a:prstGeom prst="roundRect">
            <a:avLst>
              <a:gd name="adj" fmla="val 25000"/>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7744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From routes to traffic.  </a:t>
            </a:r>
            <a:r>
              <a:rPr sz="1300" b="0" i="0">
                <a:solidFill>
                  <a:srgbClr val="93A2B8"/>
                </a:solidFill>
                <a:latin typeface="Arial"/>
              </a:rPr>
              <a:t>Routing says what is optimal. Simulation says what happens when 700 drivers all believe that at once.</a:t>
            </a:r>
          </a:p>
        </p:txBody>
      </p:sp>
      <p:sp>
        <p:nvSpPr>
          <p:cNvPr id="9" name="Rounded Rectangle 8"/>
          <p:cNvSpPr/>
          <p:nvPr/>
        </p:nvSpPr>
        <p:spPr>
          <a:xfrm>
            <a:off x="658368" y="361645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56616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Scenarios as YAML.  </a:t>
            </a:r>
            <a:r>
              <a:rPr sz="1300" b="0" i="0">
                <a:solidFill>
                  <a:srgbClr val="93A2B8"/>
                </a:solidFill>
                <a:latin typeface="Arial"/>
              </a:rPr>
              <a:t>Fleets, departure curves, zones and closures are files, so a scenario is reviewable and repeatable.</a:t>
            </a:r>
          </a:p>
        </p:txBody>
      </p:sp>
      <p:sp>
        <p:nvSpPr>
          <p:cNvPr id="11" name="Rounded Rectangle 10"/>
          <p:cNvSpPr/>
          <p:nvPr/>
        </p:nvSpPr>
        <p:spPr>
          <a:xfrm>
            <a:off x="658368" y="4805172"/>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75488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Playback in QGIS.  </a:t>
            </a:r>
            <a:r>
              <a:rPr sz="1300" b="0" i="0">
                <a:solidFill>
                  <a:srgbClr val="93A2B8"/>
                </a:solidFill>
                <a:latin typeface="Arial"/>
              </a:rPr>
              <a:t>Frame-by-frame agent positions land as layers you can animate.</a:t>
            </a:r>
          </a:p>
        </p:txBody>
      </p:sp>
      <p:pic>
        <p:nvPicPr>
          <p:cNvPr id="13" name="Picture 12" descr="fig_simulation.png"/>
          <p:cNvPicPr>
            <a:picLocks noChangeAspect="1"/>
          </p:cNvPicPr>
          <p:nvPr/>
        </p:nvPicPr>
        <p:blipFill>
          <a:blip r:embed="rId2"/>
          <a:stretch>
            <a:fillRect/>
          </a:stretch>
        </p:blipFill>
        <p:spPr>
          <a:xfrm>
            <a:off x="6821424" y="1636876"/>
            <a:ext cx="4718304" cy="4407207"/>
          </a:xfrm>
          <a:prstGeom prst="rect">
            <a:avLst/>
          </a:prstGeom>
        </p:spPr>
      </p:pic>
      <p:sp>
        <p:nvSpPr>
          <p:cNvPr id="14" name="Rounded Rectangle 13"/>
          <p:cNvSpPr/>
          <p:nvPr/>
        </p:nvSpPr>
        <p:spPr>
          <a:xfrm>
            <a:off x="6821424" y="1636876"/>
            <a:ext cx="4718304" cy="4407207"/>
          </a:xfrm>
          <a:prstGeom prst="roundRect">
            <a:avLst>
              <a:gd name="adj" fmla="val 1500"/>
            </a:avLst>
          </a:prstGeom>
          <a:no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6" name="TextBox 1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09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WHERE ANALYSTS WORK</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QGIS native, end to end</a:t>
            </a:r>
          </a:p>
        </p:txBody>
      </p:sp>
      <p:sp>
        <p:nvSpPr>
          <p:cNvPr id="6" name="TextBox 5"/>
          <p:cNvSpPr txBox="1"/>
          <p:nvPr/>
        </p:nvSpPr>
        <p:spPr>
          <a:xfrm>
            <a:off x="658368" y="1481328"/>
            <a:ext cx="58521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Most of the people who ask these questions live in QGIS, so the answers should land there too.</a:t>
            </a:r>
          </a:p>
        </p:txBody>
      </p:sp>
      <p:sp>
        <p:nvSpPr>
          <p:cNvPr id="7" name="Rounded Rectangle 6"/>
          <p:cNvSpPr/>
          <p:nvPr/>
        </p:nvSpPr>
        <p:spPr>
          <a:xfrm>
            <a:off x="658368" y="2427732"/>
            <a:ext cx="146304" cy="146304"/>
          </a:xfrm>
          <a:prstGeom prst="roundRect">
            <a:avLst>
              <a:gd name="adj" fmla="val 25000"/>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7744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Click to run.  </a:t>
            </a:r>
            <a:r>
              <a:rPr sz="1300" b="0" i="0">
                <a:solidFill>
                  <a:srgbClr val="93A2B8"/>
                </a:solidFill>
                <a:latin typeface="Arial"/>
              </a:rPr>
              <a:t>Route, OD, matrix, service area, transit and simulation tabs, against a local API.</a:t>
            </a:r>
          </a:p>
        </p:txBody>
      </p:sp>
      <p:sp>
        <p:nvSpPr>
          <p:cNvPr id="9" name="Rounded Rectangle 8"/>
          <p:cNvSpPr/>
          <p:nvPr/>
        </p:nvSpPr>
        <p:spPr>
          <a:xfrm>
            <a:off x="658368" y="361645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56616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Grouped, styled layers.  </a:t>
            </a:r>
            <a:r>
              <a:rPr sz="1300" b="0" i="0">
                <a:solidFill>
                  <a:srgbClr val="93A2B8"/>
                </a:solidFill>
                <a:latin typeface="Arial"/>
              </a:rPr>
              <a:t>Results arrive organised and ready to map. No manual imports, no leftover scratch files.</a:t>
            </a:r>
          </a:p>
        </p:txBody>
      </p:sp>
      <p:sp>
        <p:nvSpPr>
          <p:cNvPr id="11" name="Rounded Rectangle 10"/>
          <p:cNvSpPr/>
          <p:nvPr/>
        </p:nvSpPr>
        <p:spPr>
          <a:xfrm>
            <a:off x="658368" y="4805172"/>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75488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QGIS 3.28 through 4.99.  </a:t>
            </a:r>
            <a:r>
              <a:rPr sz="1300" b="0" i="0">
                <a:solidFill>
                  <a:srgbClr val="93A2B8"/>
                </a:solidFill>
                <a:latin typeface="Arial"/>
              </a:rPr>
              <a:t>Qt 5 and Qt 6, packaged as a normal installable plugin.</a:t>
            </a:r>
          </a:p>
        </p:txBody>
      </p:sp>
      <p:pic>
        <p:nvPicPr>
          <p:cNvPr id="13" name="Picture 12" descr="fig_layers.png"/>
          <p:cNvPicPr>
            <a:picLocks noChangeAspect="1"/>
          </p:cNvPicPr>
          <p:nvPr/>
        </p:nvPicPr>
        <p:blipFill>
          <a:blip r:embed="rId2"/>
          <a:stretch>
            <a:fillRect/>
          </a:stretch>
        </p:blipFill>
        <p:spPr>
          <a:xfrm>
            <a:off x="6821424" y="1636876"/>
            <a:ext cx="4718304" cy="4407207"/>
          </a:xfrm>
          <a:prstGeom prst="rect">
            <a:avLst/>
          </a:prstGeom>
        </p:spPr>
      </p:pic>
      <p:sp>
        <p:nvSpPr>
          <p:cNvPr id="14" name="Rounded Rectangle 13"/>
          <p:cNvSpPr/>
          <p:nvPr/>
        </p:nvSpPr>
        <p:spPr>
          <a:xfrm>
            <a:off x="6821424" y="1636876"/>
            <a:ext cx="4718304" cy="4407207"/>
          </a:xfrm>
          <a:prstGeom prst="roundRect">
            <a:avLst>
              <a:gd name="adj" fmla="val 1500"/>
            </a:avLst>
          </a:prstGeom>
          <a:no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6" name="TextBox 1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TWO · RUN IT AGAIN NEXT YEAR</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Reproducible by construction</a:t>
            </a:r>
          </a:p>
        </p:txBody>
      </p:sp>
      <p:sp>
        <p:nvSpPr>
          <p:cNvPr id="6" name="TextBox 5"/>
          <p:cNvSpPr txBox="1"/>
          <p:nvPr/>
        </p:nvSpPr>
        <p:spPr>
          <a:xfrm>
            <a:off x="658368" y="1481328"/>
            <a:ext cx="108813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Every run writes a manifest that pins what produced the result. The fifth question from the start, answered structurally rather than by discipline.</a:t>
            </a:r>
          </a:p>
        </p:txBody>
      </p:sp>
      <p:sp>
        <p:nvSpPr>
          <p:cNvPr id="7" name="Rounded Rectangle 6"/>
          <p:cNvSpPr/>
          <p:nvPr/>
        </p:nvSpPr>
        <p:spPr>
          <a:xfrm>
            <a:off x="658368" y="2148840"/>
            <a:ext cx="2638044" cy="1691640"/>
          </a:xfrm>
          <a:prstGeom prst="roundRect">
            <a:avLst>
              <a:gd name="adj" fmla="val 4864"/>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13432"/>
            <a:ext cx="457200" cy="54864"/>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78024"/>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Source provenance</a:t>
            </a:r>
          </a:p>
        </p:txBody>
      </p:sp>
      <p:sp>
        <p:nvSpPr>
          <p:cNvPr id="10" name="TextBox 9"/>
          <p:cNvSpPr txBox="1"/>
          <p:nvPr/>
        </p:nvSpPr>
        <p:spPr>
          <a:xfrm>
            <a:off x="822959" y="2807208"/>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OSM extract path and hash, import timestamps, bundle IDs.</a:t>
            </a:r>
          </a:p>
        </p:txBody>
      </p:sp>
      <p:sp>
        <p:nvSpPr>
          <p:cNvPr id="11" name="Rounded Rectangle 10"/>
          <p:cNvSpPr/>
          <p:nvPr/>
        </p:nvSpPr>
        <p:spPr>
          <a:xfrm>
            <a:off x="3406139" y="2148840"/>
            <a:ext cx="2638044" cy="1691640"/>
          </a:xfrm>
          <a:prstGeom prst="roundRect">
            <a:avLst>
              <a:gd name="adj" fmla="val 4864"/>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70732" y="2313432"/>
            <a:ext cx="457200" cy="54864"/>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0732" y="2478024"/>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Profile hashes</a:t>
            </a:r>
          </a:p>
        </p:txBody>
      </p:sp>
      <p:sp>
        <p:nvSpPr>
          <p:cNvPr id="14" name="TextBox 13"/>
          <p:cNvSpPr txBox="1"/>
          <p:nvPr/>
        </p:nvSpPr>
        <p:spPr>
          <a:xfrm>
            <a:off x="3570732" y="2807208"/>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The exact compiled cost model behind the run.</a:t>
            </a:r>
          </a:p>
        </p:txBody>
      </p:sp>
      <p:sp>
        <p:nvSpPr>
          <p:cNvPr id="15" name="Rounded Rectangle 14"/>
          <p:cNvSpPr/>
          <p:nvPr/>
        </p:nvSpPr>
        <p:spPr>
          <a:xfrm>
            <a:off x="6153912" y="2148840"/>
            <a:ext cx="2638044" cy="1691640"/>
          </a:xfrm>
          <a:prstGeom prst="roundRect">
            <a:avLst>
              <a:gd name="adj" fmla="val 4864"/>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18503" y="2313432"/>
            <a:ext cx="457200" cy="54864"/>
          </a:xfrm>
          <a:prstGeom prst="rect">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3" y="2478024"/>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Software versions</a:t>
            </a:r>
          </a:p>
        </p:txBody>
      </p:sp>
      <p:sp>
        <p:nvSpPr>
          <p:cNvPr id="18" name="TextBox 17"/>
          <p:cNvSpPr txBox="1"/>
          <p:nvPr/>
        </p:nvSpPr>
        <p:spPr>
          <a:xfrm>
            <a:off x="6318503" y="2807208"/>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Engine and algorithm version pinned to every result.</a:t>
            </a:r>
          </a:p>
        </p:txBody>
      </p:sp>
      <p:sp>
        <p:nvSpPr>
          <p:cNvPr id="19" name="Rounded Rectangle 18"/>
          <p:cNvSpPr/>
          <p:nvPr/>
        </p:nvSpPr>
        <p:spPr>
          <a:xfrm>
            <a:off x="8901684" y="2148840"/>
            <a:ext cx="2638044" cy="1691640"/>
          </a:xfrm>
          <a:prstGeom prst="roundRect">
            <a:avLst>
              <a:gd name="adj" fmla="val 4864"/>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66276" y="2313432"/>
            <a:ext cx="457200" cy="54864"/>
          </a:xfrm>
          <a:prstGeom prst="rect">
            <a:avLst/>
          </a:prstGeom>
          <a:solidFill>
            <a:srgbClr val="B9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66276" y="2478024"/>
            <a:ext cx="230886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Run metadata</a:t>
            </a:r>
          </a:p>
        </p:txBody>
      </p:sp>
      <p:sp>
        <p:nvSpPr>
          <p:cNvPr id="22" name="TextBox 21"/>
          <p:cNvSpPr txBox="1"/>
          <p:nvPr/>
        </p:nvSpPr>
        <p:spPr>
          <a:xfrm>
            <a:off x="9066276" y="2807208"/>
            <a:ext cx="2308860" cy="365760"/>
          </a:xfrm>
          <a:prstGeom prst="rect">
            <a:avLst/>
          </a:prstGeom>
          <a:noFill/>
        </p:spPr>
        <p:txBody>
          <a:bodyPr wrap="square" lIns="0" rIns="0" tIns="0" bIns="0">
            <a:spAutoFit/>
          </a:bodyPr>
          <a:lstStyle/>
          <a:p>
            <a:pPr algn="l">
              <a:lnSpc>
                <a:spcPct val="116000"/>
              </a:lnSpc>
              <a:spcAft>
                <a:spcPts val="432"/>
              </a:spcAft>
            </a:pPr>
            <a:r>
              <a:rPr sz="1200" b="0" i="0">
                <a:solidFill>
                  <a:srgbClr val="93A2B8"/>
                </a:solidFill>
                <a:latin typeface="Arial"/>
              </a:rPr>
              <a:t>Request, parameters and timing, captured rather than implied.</a:t>
            </a:r>
          </a:p>
        </p:txBody>
      </p:sp>
      <p:sp>
        <p:nvSpPr>
          <p:cNvPr id="23" name="Rounded Rectangle 22"/>
          <p:cNvSpPr/>
          <p:nvPr/>
        </p:nvSpPr>
        <p:spPr>
          <a:xfrm>
            <a:off x="658368" y="4206240"/>
            <a:ext cx="10881360" cy="1097280"/>
          </a:xfrm>
          <a:prstGeom prst="roundRect">
            <a:avLst>
              <a:gd name="adj" fmla="val 7500"/>
            </a:avLst>
          </a:prstGeom>
          <a:solidFill>
            <a:srgbClr val="101826"/>
          </a:solid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389120"/>
            <a:ext cx="10369296" cy="365760"/>
          </a:xfrm>
          <a:prstGeom prst="rect">
            <a:avLst/>
          </a:prstGeom>
          <a:noFill/>
        </p:spPr>
        <p:txBody>
          <a:bodyPr wrap="square" lIns="0" rIns="0" tIns="0" bIns="0">
            <a:spAutoFit/>
          </a:bodyPr>
          <a:lstStyle/>
          <a:p>
            <a:pPr algn="l">
              <a:lnSpc>
                <a:spcPct val="118000"/>
              </a:lnSpc>
              <a:spcAft>
                <a:spcPts val="432"/>
              </a:spcAft>
            </a:pPr>
            <a:r>
              <a:rPr sz="1300" b="1" i="0">
                <a:solidFill>
                  <a:srgbClr val="ECF1F8"/>
                </a:solidFill>
                <a:latin typeface="Arial"/>
              </a:rPr>
              <a:t>No hidden state.  </a:t>
            </a:r>
            <a:r>
              <a:rPr sz="1300" b="0" i="0">
                <a:solidFill>
                  <a:srgbClr val="93A2B8"/>
                </a:solidFill>
                <a:latin typeface="Arial"/>
              </a:rPr>
              <a:t>Anything you can configure lives in files, payloads or manifests. That is what turns a demo into an instrument you can publish from.</a:t>
            </a:r>
          </a:p>
        </p:txBody>
      </p:sp>
      <p:sp>
        <p:nvSpPr>
          <p:cNvPr id="25" name="TextBox 2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26" name="TextBox 2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THREE · HOW IT GOT BUILT</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So who wrote all this?</a:t>
            </a:r>
          </a:p>
        </p:txBody>
      </p:sp>
      <p:sp>
        <p:nvSpPr>
          <p:cNvPr id="6" name="TextBox 5"/>
          <p:cNvSpPr txBox="1"/>
          <p:nvPr/>
        </p:nvSpPr>
        <p:spPr>
          <a:xfrm>
            <a:off x="658368" y="1481328"/>
            <a:ext cx="108813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Mostly not me. The engine I wanted was never going to be a funded project. It became real this spring as a side effect of AI coding agents getting good.</a:t>
            </a:r>
          </a:p>
        </p:txBody>
      </p:sp>
      <p:sp>
        <p:nvSpPr>
          <p:cNvPr id="7" name="Rounded Rectangle 6"/>
          <p:cNvSpPr/>
          <p:nvPr/>
        </p:nvSpPr>
        <p:spPr>
          <a:xfrm>
            <a:off x="658368" y="219913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148840"/>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Software for an audience of one.  </a:t>
            </a:r>
            <a:r>
              <a:rPr sz="1300" b="0" i="0">
                <a:solidFill>
                  <a:srgbClr val="93A2B8"/>
                </a:solidFill>
                <a:latin typeface="Arial"/>
              </a:rPr>
              <a:t>No predefined schemas, no upstream maintainers to convince. Request and result models shaped exactly like my analyses, because nobody else has to agree.</a:t>
            </a:r>
          </a:p>
        </p:txBody>
      </p:sp>
      <p:sp>
        <p:nvSpPr>
          <p:cNvPr id="9" name="Rounded Rectangle 8"/>
          <p:cNvSpPr/>
          <p:nvPr/>
        </p:nvSpPr>
        <p:spPr>
          <a:xfrm>
            <a:off x="658368" y="3186684"/>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136392"/>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I stopped typing most of the code.  </a:t>
            </a:r>
            <a:r>
              <a:rPr sz="1300" b="0" i="0">
                <a:solidFill>
                  <a:srgbClr val="93A2B8"/>
                </a:solidFill>
                <a:latin typeface="Arial"/>
              </a:rPr>
              <a:t>I write the spec, argue with the plan, review the diff, check the output. 37 of the 75 commits in the repo carry a Co-Authored-By: Claude trailer.</a:t>
            </a:r>
          </a:p>
        </p:txBody>
      </p:sp>
      <p:sp>
        <p:nvSpPr>
          <p:cNvPr id="11" name="Rounded Rectangle 10"/>
          <p:cNvSpPr/>
          <p:nvPr/>
        </p:nvSpPr>
        <p:spPr>
          <a:xfrm>
            <a:off x="658368" y="4174235"/>
            <a:ext cx="146304" cy="146304"/>
          </a:xfrm>
          <a:prstGeom prst="roundRect">
            <a:avLst>
              <a:gd name="adj" fmla="val 25000"/>
            </a:avLst>
          </a:prstGeom>
          <a:solidFill>
            <a:srgbClr val="B9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123944"/>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The code is often better than what I would write.  </a:t>
            </a:r>
            <a:r>
              <a:rPr sz="1300" b="0" i="0">
                <a:solidFill>
                  <a:srgbClr val="93A2B8"/>
                </a:solidFill>
                <a:latin typeface="Arial"/>
              </a:rPr>
              <a:t>Not a comfortable sentence, but true. The test discipline and the algorithm work go past what I would have shipped on my own evenings.</a:t>
            </a:r>
          </a:p>
        </p:txBody>
      </p:sp>
      <p:sp>
        <p:nvSpPr>
          <p:cNvPr id="13" name="Rounded Rectangle 12"/>
          <p:cNvSpPr/>
          <p:nvPr/>
        </p:nvSpPr>
        <p:spPr>
          <a:xfrm>
            <a:off x="658368" y="5161788"/>
            <a:ext cx="146304" cy="146304"/>
          </a:xfrm>
          <a:prstGeom prst="roundRect">
            <a:avLst>
              <a:gd name="adj" fmla="val 25000"/>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5111496"/>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Days of work, not years.  </a:t>
            </a:r>
            <a:r>
              <a:rPr sz="1300" b="0" i="0">
                <a:solidFill>
                  <a:srgbClr val="93A2B8"/>
                </a:solidFill>
                <a:latin typeface="Arial"/>
              </a:rPr>
              <a:t>About a week of actual working days, spread over three and a half months of calendar. The next slide has the receipts.</a:t>
            </a:r>
          </a:p>
        </p:txBody>
      </p:sp>
      <p:sp>
        <p:nvSpPr>
          <p:cNvPr id="15" name="TextBox 1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6" name="TextBox 1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THREE · THE RECEIPTS</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Three and a half months of calendar, a week of work</a:t>
            </a:r>
          </a:p>
        </p:txBody>
      </p:sp>
      <p:pic>
        <p:nvPicPr>
          <p:cNvPr id="6" name="Picture 5" descr="fig_timeline.png"/>
          <p:cNvPicPr>
            <a:picLocks noChangeAspect="1"/>
          </p:cNvPicPr>
          <p:nvPr/>
        </p:nvPicPr>
        <p:blipFill>
          <a:blip r:embed="rId2"/>
          <a:stretch>
            <a:fillRect/>
          </a:stretch>
        </p:blipFill>
        <p:spPr>
          <a:xfrm>
            <a:off x="729995" y="1572768"/>
            <a:ext cx="10728960" cy="4828032"/>
          </a:xfrm>
          <a:prstGeom prst="rect">
            <a:avLst/>
          </a:prstGeom>
        </p:spPr>
      </p:pic>
      <p:sp>
        <p:nvSpPr>
          <p:cNvPr id="7" name="Rounded Rectangle 6"/>
          <p:cNvSpPr/>
          <p:nvPr/>
        </p:nvSpPr>
        <p:spPr>
          <a:xfrm>
            <a:off x="729995" y="1572768"/>
            <a:ext cx="10728960" cy="4828032"/>
          </a:xfrm>
          <a:prstGeom prst="roundRect">
            <a:avLst>
              <a:gd name="adj" fmla="val 1500"/>
            </a:avLst>
          </a:prstGeom>
          <a:no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9" name="TextBox 8"/>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THREE · THE PROCESS</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Working with agents, in practice</a:t>
            </a:r>
          </a:p>
        </p:txBody>
      </p:sp>
      <p:sp>
        <p:nvSpPr>
          <p:cNvPr id="6" name="Rounded Rectangle 5"/>
          <p:cNvSpPr/>
          <p:nvPr/>
        </p:nvSpPr>
        <p:spPr>
          <a:xfrm>
            <a:off x="658368" y="1645920"/>
            <a:ext cx="5358384" cy="1645920"/>
          </a:xfrm>
          <a:prstGeom prst="roundRect">
            <a:avLst>
              <a:gd name="adj" fmla="val 5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59" y="1810512"/>
            <a:ext cx="457200" cy="54864"/>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75104"/>
            <a:ext cx="502920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Plan first, code later.</a:t>
            </a:r>
          </a:p>
        </p:txBody>
      </p:sp>
      <p:sp>
        <p:nvSpPr>
          <p:cNvPr id="9" name="TextBox 8"/>
          <p:cNvSpPr txBox="1"/>
          <p:nvPr/>
        </p:nvSpPr>
        <p:spPr>
          <a:xfrm>
            <a:off x="822959" y="2304288"/>
            <a:ext cx="5029200" cy="365760"/>
          </a:xfrm>
          <a:prstGeom prst="rect">
            <a:avLst/>
          </a:prstGeom>
          <a:noFill/>
        </p:spPr>
        <p:txBody>
          <a:bodyPr wrap="square" lIns="0" rIns="0" tIns="0" bIns="0">
            <a:spAutoFit/>
          </a:bodyPr>
          <a:lstStyle/>
          <a:p>
            <a:pPr algn="l">
              <a:lnSpc>
                <a:spcPct val="116000"/>
              </a:lnSpc>
              <a:spcAft>
                <a:spcPts val="432"/>
              </a:spcAft>
            </a:pPr>
            <a:r>
              <a:rPr sz="1250" b="0" i="0">
                <a:solidFill>
                  <a:srgbClr val="93A2B8"/>
                </a:solidFill>
                <a:latin typeface="Arial"/>
              </a:rPr>
              <a:t>Every feature starts as a written plan we argue about before any code exists. The typing is the cheap part now.</a:t>
            </a:r>
          </a:p>
        </p:txBody>
      </p:sp>
      <p:sp>
        <p:nvSpPr>
          <p:cNvPr id="10" name="Rounded Rectangle 9"/>
          <p:cNvSpPr/>
          <p:nvPr/>
        </p:nvSpPr>
        <p:spPr>
          <a:xfrm>
            <a:off x="6172200" y="1645920"/>
            <a:ext cx="5358384" cy="1645920"/>
          </a:xfrm>
          <a:prstGeom prst="roundRect">
            <a:avLst>
              <a:gd name="adj" fmla="val 5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6792" y="1810512"/>
            <a:ext cx="457200" cy="54864"/>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975104"/>
            <a:ext cx="502920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Give the agent a way to verify.</a:t>
            </a:r>
          </a:p>
        </p:txBody>
      </p:sp>
      <p:sp>
        <p:nvSpPr>
          <p:cNvPr id="13" name="TextBox 12"/>
          <p:cNvSpPr txBox="1"/>
          <p:nvPr/>
        </p:nvSpPr>
        <p:spPr>
          <a:xfrm>
            <a:off x="6336792" y="2304288"/>
            <a:ext cx="5029200" cy="365760"/>
          </a:xfrm>
          <a:prstGeom prst="rect">
            <a:avLst/>
          </a:prstGeom>
          <a:noFill/>
        </p:spPr>
        <p:txBody>
          <a:bodyPr wrap="square" lIns="0" rIns="0" tIns="0" bIns="0">
            <a:spAutoFit/>
          </a:bodyPr>
          <a:lstStyle/>
          <a:p>
            <a:pPr algn="l">
              <a:lnSpc>
                <a:spcPct val="116000"/>
              </a:lnSpc>
              <a:spcAft>
                <a:spcPts val="432"/>
              </a:spcAft>
            </a:pPr>
            <a:r>
              <a:rPr sz="1250" b="0" i="0">
                <a:solidFill>
                  <a:srgbClr val="93A2B8"/>
                </a:solidFill>
                <a:latin typeface="Arial"/>
              </a:rPr>
              <a:t>The single biggest lever: tests, fixture corpora, a rendered map the agent can look at. Wrong routes glow on a dark basemap.</a:t>
            </a:r>
          </a:p>
        </p:txBody>
      </p:sp>
      <p:sp>
        <p:nvSpPr>
          <p:cNvPr id="14" name="Rounded Rectangle 13"/>
          <p:cNvSpPr/>
          <p:nvPr/>
        </p:nvSpPr>
        <p:spPr>
          <a:xfrm>
            <a:off x="658368" y="3429000"/>
            <a:ext cx="5358384" cy="1645920"/>
          </a:xfrm>
          <a:prstGeom prst="roundRect">
            <a:avLst>
              <a:gd name="adj" fmla="val 5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59" y="3593592"/>
            <a:ext cx="457200" cy="54864"/>
          </a:xfrm>
          <a:prstGeom prst="rect">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758184"/>
            <a:ext cx="502920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Corrections become rules.</a:t>
            </a:r>
          </a:p>
        </p:txBody>
      </p:sp>
      <p:sp>
        <p:nvSpPr>
          <p:cNvPr id="17" name="TextBox 16"/>
          <p:cNvSpPr txBox="1"/>
          <p:nvPr/>
        </p:nvSpPr>
        <p:spPr>
          <a:xfrm>
            <a:off x="822959" y="4087368"/>
            <a:ext cx="5029200" cy="365760"/>
          </a:xfrm>
          <a:prstGeom prst="rect">
            <a:avLst/>
          </a:prstGeom>
          <a:noFill/>
        </p:spPr>
        <p:txBody>
          <a:bodyPr wrap="square" lIns="0" rIns="0" tIns="0" bIns="0">
            <a:spAutoFit/>
          </a:bodyPr>
          <a:lstStyle/>
          <a:p>
            <a:pPr algn="l">
              <a:lnSpc>
                <a:spcPct val="116000"/>
              </a:lnSpc>
              <a:spcAft>
                <a:spcPts val="432"/>
              </a:spcAft>
            </a:pPr>
            <a:r>
              <a:rPr sz="1250" b="0" i="0">
                <a:solidFill>
                  <a:srgbClr val="93A2B8"/>
                </a:solidFill>
                <a:latin typeface="Arial"/>
              </a:rPr>
              <a:t>When the agent gets something wrong, the fix goes into the project instructions file, not the chat. That class of mistake stops happening.</a:t>
            </a:r>
          </a:p>
        </p:txBody>
      </p:sp>
      <p:sp>
        <p:nvSpPr>
          <p:cNvPr id="18" name="Rounded Rectangle 17"/>
          <p:cNvSpPr/>
          <p:nvPr/>
        </p:nvSpPr>
        <p:spPr>
          <a:xfrm>
            <a:off x="6172200" y="3429000"/>
            <a:ext cx="5358384" cy="1645920"/>
          </a:xfrm>
          <a:prstGeom prst="roundRect">
            <a:avLst>
              <a:gd name="adj" fmla="val 5000"/>
            </a:avLst>
          </a:prstGeom>
          <a:solidFill>
            <a:srgbClr val="162032"/>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36792" y="3593592"/>
            <a:ext cx="457200" cy="54864"/>
          </a:xfrm>
          <a:prstGeom prst="rect">
            <a:avLst/>
          </a:prstGeom>
          <a:solidFill>
            <a:srgbClr val="B9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3758184"/>
            <a:ext cx="5029200" cy="365760"/>
          </a:xfrm>
          <a:prstGeom prst="rect">
            <a:avLst/>
          </a:prstGeom>
          <a:noFill/>
        </p:spPr>
        <p:txBody>
          <a:bodyPr wrap="square" lIns="0" rIns="0" tIns="0" bIns="0">
            <a:spAutoFit/>
          </a:bodyPr>
          <a:lstStyle/>
          <a:p>
            <a:pPr algn="l">
              <a:lnSpc>
                <a:spcPct val="112000"/>
              </a:lnSpc>
              <a:spcAft>
                <a:spcPts val="432"/>
              </a:spcAft>
            </a:pPr>
            <a:r>
              <a:rPr sz="1450" b="1" i="0">
                <a:solidFill>
                  <a:srgbClr val="ECF1F8"/>
                </a:solidFill>
                <a:latin typeface="Arial"/>
              </a:rPr>
              <a:t>Parallel work, small reviews.</a:t>
            </a:r>
          </a:p>
        </p:txBody>
      </p:sp>
      <p:sp>
        <p:nvSpPr>
          <p:cNvPr id="21" name="TextBox 20"/>
          <p:cNvSpPr txBox="1"/>
          <p:nvPr/>
        </p:nvSpPr>
        <p:spPr>
          <a:xfrm>
            <a:off x="6336792" y="4087368"/>
            <a:ext cx="5029200" cy="365760"/>
          </a:xfrm>
          <a:prstGeom prst="rect">
            <a:avLst/>
          </a:prstGeom>
          <a:noFill/>
        </p:spPr>
        <p:txBody>
          <a:bodyPr wrap="square" lIns="0" rIns="0" tIns="0" bIns="0">
            <a:spAutoFit/>
          </a:bodyPr>
          <a:lstStyle/>
          <a:p>
            <a:pPr algn="l">
              <a:lnSpc>
                <a:spcPct val="116000"/>
              </a:lnSpc>
              <a:spcAft>
                <a:spcPts val="432"/>
              </a:spcAft>
            </a:pPr>
            <a:r>
              <a:rPr sz="1250" b="0" i="0">
                <a:solidFill>
                  <a:srgbClr val="93A2B8"/>
                </a:solidFill>
                <a:latin typeface="Arial"/>
              </a:rPr>
              <a:t>One session builds GTFS import while another writes the QGIS plugin. My job is direction and review, in small pieces.</a:t>
            </a:r>
          </a:p>
        </p:txBody>
      </p:sp>
      <p:sp>
        <p:nvSpPr>
          <p:cNvPr id="22" name="Rounded Rectangle 21"/>
          <p:cNvSpPr/>
          <p:nvPr/>
        </p:nvSpPr>
        <p:spPr>
          <a:xfrm>
            <a:off x="658368" y="5303520"/>
            <a:ext cx="10881360" cy="868680"/>
          </a:xfrm>
          <a:prstGeom prst="roundRect">
            <a:avLst>
              <a:gd name="adj" fmla="val 9473"/>
            </a:avLst>
          </a:prstGeom>
          <a:solidFill>
            <a:srgbClr val="101826"/>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256032" tIns="18288" bIns="18288"/>
          <a:lstStyle/>
          <a:p>
            <a:pPr algn="l">
              <a:lnSpc>
                <a:spcPct val="114000"/>
              </a:lnSpc>
            </a:pPr>
            <a:r>
              <a:rPr sz="1300" b="0" i="1">
                <a:solidFill>
                  <a:srgbClr val="ECF1F8"/>
                </a:solidFill>
                <a:latin typeface="Arial"/>
              </a:rPr>
              <a:t>"Give Claude a way to verify its output. Once you do that, Claude will iterate until the result is great."  </a:t>
            </a:r>
            <a:r>
              <a:rPr sz="1300" b="1" i="0">
                <a:solidFill>
                  <a:srgbClr val="2DE5A0"/>
                </a:solidFill>
                <a:latin typeface="Arial"/>
              </a:rPr>
              <a:t>Boris Cherny, creator of Claude Code</a:t>
            </a:r>
          </a:p>
        </p:txBody>
      </p:sp>
      <p:sp>
        <p:nvSpPr>
          <p:cNvPr id="23" name="Rectangle 22"/>
          <p:cNvSpPr/>
          <p:nvPr/>
        </p:nvSpPr>
        <p:spPr>
          <a:xfrm>
            <a:off x="804672" y="5449824"/>
            <a:ext cx="50292" cy="576071"/>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25" name="TextBox 24"/>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THREE · THE OBVIOUS OBJECTION</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Can you trust code an AI wrote?</a:t>
            </a:r>
          </a:p>
        </p:txBody>
      </p:sp>
      <p:sp>
        <p:nvSpPr>
          <p:cNvPr id="6" name="TextBox 5"/>
          <p:cNvSpPr txBox="1"/>
          <p:nvPr/>
        </p:nvSpPr>
        <p:spPr>
          <a:xfrm>
            <a:off x="658368" y="1481328"/>
            <a:ext cx="5852160" cy="365760"/>
          </a:xfrm>
          <a:prstGeom prst="rect">
            <a:avLst/>
          </a:prstGeom>
          <a:noFill/>
        </p:spPr>
        <p:txBody>
          <a:bodyPr wrap="square" lIns="0" rIns="0" tIns="0" bIns="0">
            <a:spAutoFit/>
          </a:bodyPr>
          <a:lstStyle/>
          <a:p>
            <a:pPr algn="l">
              <a:lnSpc>
                <a:spcPct val="118000"/>
              </a:lnSpc>
              <a:spcAft>
                <a:spcPts val="432"/>
              </a:spcAft>
            </a:pPr>
            <a:r>
              <a:rPr sz="1350" b="0" i="0">
                <a:solidFill>
                  <a:srgbClr val="93A2B8"/>
                </a:solidFill>
                <a:latin typeface="Arial"/>
              </a:rPr>
              <a:t>It is the same question as trusting any router, and it has the same answer: verification, built into the engine.</a:t>
            </a:r>
          </a:p>
        </p:txBody>
      </p:sp>
      <p:sp>
        <p:nvSpPr>
          <p:cNvPr id="7" name="Rounded Rectangle 6"/>
          <p:cNvSpPr/>
          <p:nvPr/>
        </p:nvSpPr>
        <p:spPr>
          <a:xfrm>
            <a:off x="658368" y="242773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7744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An exact engine rides along as the oracle.  </a:t>
            </a:r>
            <a:r>
              <a:rPr sz="1300" b="0" i="0">
                <a:solidFill>
                  <a:srgbClr val="93A2B8"/>
                </a:solidFill>
                <a:latin typeface="Arial"/>
              </a:rPr>
              <a:t>The CCH accelerator is differential tested route for route against brute force. Same answers, 131 ms median down to 2.9 ms on 1.02M edge states.</a:t>
            </a:r>
          </a:p>
        </p:txBody>
      </p:sp>
      <p:sp>
        <p:nvSpPr>
          <p:cNvPr id="9" name="Rounded Rectangle 8"/>
          <p:cNvSpPr/>
          <p:nvPr/>
        </p:nvSpPr>
        <p:spPr>
          <a:xfrm>
            <a:off x="658368" y="3616452"/>
            <a:ext cx="146304" cy="146304"/>
          </a:xfrm>
          <a:prstGeom prst="roundRect">
            <a:avLst>
              <a:gd name="adj" fmla="val 25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56616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The hard cases have tests.  </a:t>
            </a:r>
            <a:r>
              <a:rPr sz="1300" b="0" i="0">
                <a:solidFill>
                  <a:srgbClr val="93A2B8"/>
                </a:solidFill>
                <a:latin typeface="Arial"/>
              </a:rPr>
              <a:t>Via-way turn restrictions, the kind that quietly break routers, are modelled and verified. The red route is what ignoring them looks like.</a:t>
            </a:r>
          </a:p>
        </p:txBody>
      </p:sp>
      <p:sp>
        <p:nvSpPr>
          <p:cNvPr id="11" name="Rounded Rectangle 10"/>
          <p:cNvSpPr/>
          <p:nvPr/>
        </p:nvSpPr>
        <p:spPr>
          <a:xfrm>
            <a:off x="658368" y="4805172"/>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754880"/>
            <a:ext cx="55412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149 tests and counting.  </a:t>
            </a:r>
            <a:r>
              <a:rPr sz="1300" b="0" i="0">
                <a:solidFill>
                  <a:srgbClr val="93A2B8"/>
                </a:solidFill>
                <a:latin typeface="Arial"/>
              </a:rPr>
              <a:t>The agent writes tests more patiently than I ever did.</a:t>
            </a:r>
          </a:p>
        </p:txBody>
      </p:sp>
      <p:pic>
        <p:nvPicPr>
          <p:cNvPr id="13" name="Picture 12" descr="fig_restrictions.png"/>
          <p:cNvPicPr>
            <a:picLocks noChangeAspect="1"/>
          </p:cNvPicPr>
          <p:nvPr/>
        </p:nvPicPr>
        <p:blipFill>
          <a:blip r:embed="rId2"/>
          <a:stretch>
            <a:fillRect/>
          </a:stretch>
        </p:blipFill>
        <p:spPr>
          <a:xfrm>
            <a:off x="6821424" y="1636876"/>
            <a:ext cx="4718304" cy="4407207"/>
          </a:xfrm>
          <a:prstGeom prst="rect">
            <a:avLst/>
          </a:prstGeom>
        </p:spPr>
      </p:pic>
      <p:sp>
        <p:nvSpPr>
          <p:cNvPr id="14" name="Rounded Rectangle 13"/>
          <p:cNvSpPr/>
          <p:nvPr/>
        </p:nvSpPr>
        <p:spPr>
          <a:xfrm>
            <a:off x="6821424" y="1636876"/>
            <a:ext cx="4718304" cy="4407207"/>
          </a:xfrm>
          <a:prstGeom prst="roundRect">
            <a:avLst>
              <a:gd name="adj" fmla="val 1500"/>
            </a:avLst>
          </a:prstGeom>
          <a:noFill/>
          <a:ln w="15875">
            <a:solidFill>
              <a:srgbClr val="2DE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6" name="TextBox 15"/>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ACT THREE · WHAT THE AGENT DID NOT DO</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The honest part</a:t>
            </a:r>
          </a:p>
        </p:txBody>
      </p:sp>
      <p:sp>
        <p:nvSpPr>
          <p:cNvPr id="6" name="Rounded Rectangle 5"/>
          <p:cNvSpPr/>
          <p:nvPr/>
        </p:nvSpPr>
        <p:spPr>
          <a:xfrm>
            <a:off x="658368" y="197053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1920240"/>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Domain knowledge was the input.  </a:t>
            </a:r>
            <a:r>
              <a:rPr sz="1300" b="0" i="0">
                <a:solidFill>
                  <a:srgbClr val="93A2B8"/>
                </a:solidFill>
                <a:latin typeface="Arial"/>
              </a:rPr>
              <a:t>I knew what a via-way restriction is and what a wrong isochrone looks like. Agents amplify what you bring. Skip the understanding and you take on debt in your own head, not just in the code.</a:t>
            </a:r>
          </a:p>
        </p:txBody>
      </p:sp>
      <p:sp>
        <p:nvSpPr>
          <p:cNvPr id="8" name="Rounded Rectangle 7"/>
          <p:cNvSpPr/>
          <p:nvPr/>
        </p:nvSpPr>
        <p:spPr>
          <a:xfrm>
            <a:off x="658368" y="3049524"/>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999232"/>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Review became the bottleneck.  </a:t>
            </a:r>
            <a:r>
              <a:rPr sz="1300" b="0" i="0">
                <a:solidFill>
                  <a:srgbClr val="93A2B8"/>
                </a:solidFill>
                <a:latin typeface="Arial"/>
              </a:rPr>
              <a:t>I read far more code than I write now. The time did not disappear, it moved. For numbers that end up in policy discussions, that is the right trade.</a:t>
            </a:r>
          </a:p>
        </p:txBody>
      </p:sp>
      <p:sp>
        <p:nvSpPr>
          <p:cNvPr id="10" name="Rounded Rectangle 9"/>
          <p:cNvSpPr/>
          <p:nvPr/>
        </p:nvSpPr>
        <p:spPr>
          <a:xfrm>
            <a:off x="658368" y="4128515"/>
            <a:ext cx="146304" cy="146304"/>
          </a:xfrm>
          <a:prstGeom prst="roundRect">
            <a:avLst>
              <a:gd name="adj" fmla="val 25000"/>
            </a:avLst>
          </a:prstGeom>
          <a:solidFill>
            <a:srgbClr val="FF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4078224"/>
            <a:ext cx="10570464" cy="365760"/>
          </a:xfrm>
          <a:prstGeom prst="rect">
            <a:avLst/>
          </a:prstGeom>
          <a:noFill/>
        </p:spPr>
        <p:txBody>
          <a:bodyPr wrap="square" lIns="0" rIns="0" tIns="0" bIns="0">
            <a:spAutoFit/>
          </a:bodyPr>
          <a:lstStyle/>
          <a:p>
            <a:pPr algn="l">
              <a:lnSpc>
                <a:spcPct val="116000"/>
              </a:lnSpc>
              <a:spcAft>
                <a:spcPts val="432"/>
              </a:spcAft>
            </a:pPr>
            <a:r>
              <a:rPr sz="1300" b="1" i="0">
                <a:solidFill>
                  <a:srgbClr val="ECF1F8"/>
                </a:solidFill>
                <a:latin typeface="Arial"/>
              </a:rPr>
              <a:t>Geospatial got lucky.  </a:t>
            </a:r>
            <a:r>
              <a:rPr sz="1300" b="0" i="0">
                <a:solidFill>
                  <a:srgbClr val="93A2B8"/>
                </a:solidFill>
                <a:latin typeface="Arial"/>
              </a:rPr>
              <a:t>Our wrong answers are visible. A route through a canal does not need a stack trace. Every rendered map doubled as a regression test.</a:t>
            </a:r>
          </a:p>
        </p:txBody>
      </p:sp>
      <p:sp>
        <p:nvSpPr>
          <p:cNvPr id="12" name="Rounded Rectangle 11"/>
          <p:cNvSpPr/>
          <p:nvPr/>
        </p:nvSpPr>
        <p:spPr>
          <a:xfrm>
            <a:off x="658368" y="5257800"/>
            <a:ext cx="10881360" cy="868680"/>
          </a:xfrm>
          <a:prstGeom prst="roundRect">
            <a:avLst>
              <a:gd name="adj" fmla="val 9473"/>
            </a:avLst>
          </a:prstGeom>
          <a:solidFill>
            <a:srgbClr val="101826"/>
          </a:solidFill>
          <a:ln w="12700">
            <a:solidFill>
              <a:srgbClr val="263246"/>
            </a:solid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256032" tIns="18288" bIns="18288"/>
          <a:lstStyle/>
          <a:p>
            <a:pPr algn="l">
              <a:lnSpc>
                <a:spcPct val="114000"/>
              </a:lnSpc>
            </a:pPr>
            <a:r>
              <a:rPr sz="1300" b="0" i="1">
                <a:solidFill>
                  <a:srgbClr val="ECF1F8"/>
                </a:solidFill>
                <a:latin typeface="Arial"/>
              </a:rPr>
              <a:t>"How much better do the models have to get before you'll stop reading the code?"  </a:t>
            </a:r>
            <a:r>
              <a:rPr sz="1300" b="1" i="0">
                <a:solidFill>
                  <a:srgbClr val="4FC3F7"/>
                </a:solidFill>
                <a:latin typeface="Arial"/>
              </a:rPr>
              <a:t>Theo Browne, July 2026. My answer, for this engine: not yet.</a:t>
            </a:r>
          </a:p>
        </p:txBody>
      </p:sp>
      <p:sp>
        <p:nvSpPr>
          <p:cNvPr id="13" name="Rectangle 12"/>
          <p:cNvSpPr/>
          <p:nvPr/>
        </p:nvSpPr>
        <p:spPr>
          <a:xfrm>
            <a:off x="804672" y="5404104"/>
            <a:ext cx="50292" cy="576071"/>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5" name="TextBox 14"/>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394960"/>
            <a:ext cx="3840480" cy="274320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966960" y="-914400"/>
            <a:ext cx="3657600" cy="274320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17320"/>
            <a:ext cx="91440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THE ESSENCE</a:t>
            </a:r>
          </a:p>
        </p:txBody>
      </p:sp>
      <p:sp>
        <p:nvSpPr>
          <p:cNvPr id="6" name="TextBox 5"/>
          <p:cNvSpPr txBox="1"/>
          <p:nvPr/>
        </p:nvSpPr>
        <p:spPr>
          <a:xfrm>
            <a:off x="658368" y="1783080"/>
            <a:ext cx="11064240" cy="365760"/>
          </a:xfrm>
          <a:prstGeom prst="rect">
            <a:avLst/>
          </a:prstGeom>
          <a:noFill/>
        </p:spPr>
        <p:txBody>
          <a:bodyPr wrap="square" lIns="0" rIns="0" tIns="0" bIns="0">
            <a:spAutoFit/>
          </a:bodyPr>
          <a:lstStyle/>
          <a:p>
            <a:pPr algn="l">
              <a:lnSpc>
                <a:spcPct val="112000"/>
              </a:lnSpc>
              <a:spcAft>
                <a:spcPts val="720"/>
              </a:spcAft>
            </a:pPr>
            <a:r>
              <a:rPr sz="3600" b="1" i="0">
                <a:solidFill>
                  <a:srgbClr val="ECF1F8"/>
                </a:solidFill>
                <a:latin typeface="Arial"/>
              </a:rPr>
              <a:t>"You can outsource your thinking,</a:t>
            </a:r>
          </a:p>
          <a:p>
            <a:pPr algn="l">
              <a:lnSpc>
                <a:spcPct val="112000"/>
              </a:lnSpc>
              <a:spcAft>
                <a:spcPts val="720"/>
              </a:spcAft>
            </a:pPr>
            <a:r>
              <a:rPr sz="3600" b="1" i="0">
                <a:solidFill>
                  <a:srgbClr val="ECF1F8"/>
                </a:solidFill>
                <a:latin typeface="Arial"/>
              </a:rPr>
              <a:t>but not your understanding."</a:t>
            </a:r>
          </a:p>
        </p:txBody>
      </p:sp>
      <p:sp>
        <p:nvSpPr>
          <p:cNvPr id="7" name="TextBox 6"/>
          <p:cNvSpPr txBox="1"/>
          <p:nvPr/>
        </p:nvSpPr>
        <p:spPr>
          <a:xfrm>
            <a:off x="685800" y="333756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yacine (@yacineMTB)</a:t>
            </a:r>
            <a:r>
              <a:rPr sz="1300" b="0" i="0">
                <a:solidFill>
                  <a:srgbClr val="5A687C"/>
                </a:solidFill>
                <a:latin typeface="Arial"/>
              </a:rPr>
              <a:t>, amplified by Andrej Karpathy</a:t>
            </a:r>
          </a:p>
        </p:txBody>
      </p:sp>
      <p:sp>
        <p:nvSpPr>
          <p:cNvPr id="8" name="Rectangle 7"/>
          <p:cNvSpPr/>
          <p:nvPr/>
        </p:nvSpPr>
        <p:spPr>
          <a:xfrm>
            <a:off x="685800" y="3886200"/>
            <a:ext cx="2926080" cy="18288"/>
          </a:xfrm>
          <a:prstGeom prst="rect">
            <a:avLst/>
          </a:prstGeom>
          <a:solidFill>
            <a:srgbClr val="2632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160520"/>
            <a:ext cx="10058400" cy="365760"/>
          </a:xfrm>
          <a:prstGeom prst="rect">
            <a:avLst/>
          </a:prstGeom>
          <a:noFill/>
        </p:spPr>
        <p:txBody>
          <a:bodyPr wrap="square" lIns="0" rIns="0" tIns="0" bIns="0">
            <a:spAutoFit/>
          </a:bodyPr>
          <a:lstStyle/>
          <a:p>
            <a:pPr algn="l">
              <a:lnSpc>
                <a:spcPct val="125000"/>
              </a:lnSpc>
              <a:spcAft>
                <a:spcPts val="1152"/>
              </a:spcAft>
            </a:pPr>
            <a:r>
              <a:rPr sz="1500" b="0" i="0">
                <a:solidFill>
                  <a:srgbClr val="93A2B8"/>
                </a:solidFill>
                <a:latin typeface="Arial"/>
              </a:rPr>
              <a:t>Agents will produce, and produce, and produce. Understanding does not come included.</a:t>
            </a:r>
          </a:p>
          <a:p>
            <a:pPr algn="l">
              <a:lnSpc>
                <a:spcPct val="125000"/>
              </a:lnSpc>
              <a:spcAft>
                <a:spcPts val="1152"/>
              </a:spcAft>
            </a:pPr>
            <a:r>
              <a:rPr sz="1500" b="0" i="0">
                <a:solidFill>
                  <a:srgbClr val="93A2B8"/>
                </a:solidFill>
                <a:latin typeface="Arial"/>
              </a:rPr>
              <a:t>In geospatial work our numbers steer ambulances, bus lines and policy debates. The engine is mine because I understand it, not because I typed it.</a:t>
            </a:r>
          </a:p>
        </p:txBody>
      </p:sp>
      <p:sp>
        <p:nvSpPr>
          <p:cNvPr id="10" name="TextBox 9"/>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1" name="TextBox 10"/>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658368"/>
            <a:ext cx="310896" cy="64008"/>
          </a:xfrm>
          <a:prstGeom prst="rect">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525780"/>
            <a:ext cx="96012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WHAT IT MEANS FOR THIS ROOM</a:t>
            </a:r>
          </a:p>
        </p:txBody>
      </p:sp>
      <p:sp>
        <p:nvSpPr>
          <p:cNvPr id="5" name="TextBox 4"/>
          <p:cNvSpPr txBox="1"/>
          <p:nvPr/>
        </p:nvSpPr>
        <p:spPr>
          <a:xfrm>
            <a:off x="658368" y="868680"/>
            <a:ext cx="10972800" cy="365760"/>
          </a:xfrm>
          <a:prstGeom prst="rect">
            <a:avLst/>
          </a:prstGeom>
          <a:noFill/>
        </p:spPr>
        <p:txBody>
          <a:bodyPr wrap="square" lIns="0" rIns="0" tIns="0" bIns="0">
            <a:spAutoFit/>
          </a:bodyPr>
          <a:lstStyle/>
          <a:p>
            <a:pPr algn="l">
              <a:lnSpc>
                <a:spcPct val="112000"/>
              </a:lnSpc>
              <a:spcAft>
                <a:spcPts val="432"/>
              </a:spcAft>
            </a:pPr>
            <a:r>
              <a:rPr sz="3300" b="1" i="0">
                <a:solidFill>
                  <a:srgbClr val="ECF1F8"/>
                </a:solidFill>
                <a:latin typeface="Arial"/>
              </a:rPr>
              <a:t>Personal instruments, open foundations</a:t>
            </a:r>
          </a:p>
        </p:txBody>
      </p:sp>
      <p:sp>
        <p:nvSpPr>
          <p:cNvPr id="6" name="Rounded Rectangle 5"/>
          <p:cNvSpPr/>
          <p:nvPr/>
        </p:nvSpPr>
        <p:spPr>
          <a:xfrm>
            <a:off x="658368" y="2107692"/>
            <a:ext cx="146304" cy="146304"/>
          </a:xfrm>
          <a:prstGeom prst="roundRect">
            <a:avLst>
              <a:gd name="adj" fmla="val 25000"/>
            </a:avLst>
          </a:prstGeom>
          <a:solidFill>
            <a:srgbClr val="2DE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2057400"/>
            <a:ext cx="10570464" cy="365760"/>
          </a:xfrm>
          <a:prstGeom prst="rect">
            <a:avLst/>
          </a:prstGeom>
          <a:noFill/>
        </p:spPr>
        <p:txBody>
          <a:bodyPr wrap="square" lIns="0" rIns="0" tIns="0" bIns="0">
            <a:spAutoFit/>
          </a:bodyPr>
          <a:lstStyle/>
          <a:p>
            <a:pPr algn="l">
              <a:lnSpc>
                <a:spcPct val="116000"/>
              </a:lnSpc>
              <a:spcAft>
                <a:spcPts val="432"/>
              </a:spcAft>
            </a:pPr>
            <a:r>
              <a:rPr sz="1400" b="1" i="0">
                <a:solidFill>
                  <a:srgbClr val="ECF1F8"/>
                </a:solidFill>
                <a:latin typeface="Arial"/>
              </a:rPr>
              <a:t>Bespoke tools are suddenly affordable.  </a:t>
            </a:r>
            <a:r>
              <a:rPr sz="1400" b="0" i="0">
                <a:solidFill>
                  <a:srgbClr val="93A2B8"/>
                </a:solidFill>
                <a:latin typeface="Arial"/>
              </a:rPr>
              <a:t>A research group or a municipal team can afford an instrument fitted to their questions, instead of bending the question to fit the tool.</a:t>
            </a:r>
          </a:p>
        </p:txBody>
      </p:sp>
      <p:sp>
        <p:nvSpPr>
          <p:cNvPr id="8" name="Rounded Rectangle 7"/>
          <p:cNvSpPr/>
          <p:nvPr/>
        </p:nvSpPr>
        <p:spPr>
          <a:xfrm>
            <a:off x="658368" y="3433572"/>
            <a:ext cx="146304" cy="146304"/>
          </a:xfrm>
          <a:prstGeom prst="roundRect">
            <a:avLst>
              <a:gd name="adj" fmla="val 25000"/>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3383280"/>
            <a:ext cx="10570464" cy="365760"/>
          </a:xfrm>
          <a:prstGeom prst="rect">
            <a:avLst/>
          </a:prstGeom>
          <a:noFill/>
        </p:spPr>
        <p:txBody>
          <a:bodyPr wrap="square" lIns="0" rIns="0" tIns="0" bIns="0">
            <a:spAutoFit/>
          </a:bodyPr>
          <a:lstStyle/>
          <a:p>
            <a:pPr algn="l">
              <a:lnSpc>
                <a:spcPct val="116000"/>
              </a:lnSpc>
              <a:spcAft>
                <a:spcPts val="432"/>
              </a:spcAft>
            </a:pPr>
            <a:r>
              <a:rPr sz="1400" b="1" i="0">
                <a:solidFill>
                  <a:srgbClr val="ECF1F8"/>
                </a:solidFill>
                <a:latin typeface="Arial"/>
              </a:rPr>
              <a:t>This only works on top of the commons.  </a:t>
            </a:r>
            <a:r>
              <a:rPr sz="1400" b="0" i="0">
                <a:solidFill>
                  <a:srgbClr val="93A2B8"/>
                </a:solidFill>
                <a:latin typeface="Arial"/>
              </a:rPr>
              <a:t>OpenStreetMap, GTFS, twenty years of routing papers, QGIS. The agents learned from open code. Publishing ours back is the least we owe.</a:t>
            </a:r>
          </a:p>
        </p:txBody>
      </p:sp>
      <p:sp>
        <p:nvSpPr>
          <p:cNvPr id="10" name="Rounded Rectangle 9"/>
          <p:cNvSpPr/>
          <p:nvPr/>
        </p:nvSpPr>
        <p:spPr>
          <a:xfrm>
            <a:off x="658368" y="4759452"/>
            <a:ext cx="146304" cy="146304"/>
          </a:xfrm>
          <a:prstGeom prst="roundRect">
            <a:avLst>
              <a:gd name="adj" fmla="val 25000"/>
            </a:avLst>
          </a:prstGeom>
          <a:solidFill>
            <a:srgbClr val="B9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4709160"/>
            <a:ext cx="10570464" cy="365760"/>
          </a:xfrm>
          <a:prstGeom prst="rect">
            <a:avLst/>
          </a:prstGeom>
          <a:noFill/>
        </p:spPr>
        <p:txBody>
          <a:bodyPr wrap="square" lIns="0" rIns="0" tIns="0" bIns="0">
            <a:spAutoFit/>
          </a:bodyPr>
          <a:lstStyle/>
          <a:p>
            <a:pPr algn="l">
              <a:lnSpc>
                <a:spcPct val="116000"/>
              </a:lnSpc>
              <a:spcAft>
                <a:spcPts val="432"/>
              </a:spcAft>
            </a:pPr>
            <a:r>
              <a:rPr sz="1400" b="1" i="0">
                <a:solidFill>
                  <a:srgbClr val="ECF1F8"/>
                </a:solidFill>
                <a:latin typeface="Arial"/>
              </a:rPr>
              <a:t>The valuable skill moved.  </a:t>
            </a:r>
            <a:r>
              <a:rPr sz="1400" b="0" i="0">
                <a:solidFill>
                  <a:srgbClr val="93A2B8"/>
                </a:solidFill>
                <a:latin typeface="Arial"/>
              </a:rPr>
              <a:t>It was never typing speed. It is knowing what to ask for and how to check the answer. That is exactly what this community is good at.</a:t>
            </a:r>
          </a:p>
        </p:txBody>
      </p:sp>
      <p:sp>
        <p:nvSpPr>
          <p:cNvPr id="12" name="TextBox 11"/>
          <p:cNvSpPr txBox="1"/>
          <p:nvPr/>
        </p:nvSpPr>
        <p:spPr>
          <a:xfrm>
            <a:off x="658368" y="6455664"/>
            <a:ext cx="4114800" cy="365760"/>
          </a:xfrm>
          <a:prstGeom prst="rect">
            <a:avLst/>
          </a:prstGeom>
          <a:noFill/>
        </p:spPr>
        <p:txBody>
          <a:bodyPr wrap="square" lIns="0" rIns="0" tIns="0" bIns="0">
            <a:spAutoFit/>
          </a:bodyPr>
          <a:lstStyle/>
          <a:p>
            <a:pPr algn="l">
              <a:lnSpc>
                <a:spcPct val="112000"/>
              </a:lnSpc>
              <a:spcAft>
                <a:spcPts val="432"/>
              </a:spcAft>
            </a:pPr>
            <a:r>
              <a:rPr sz="1100" b="1" i="0">
                <a:solidFill>
                  <a:srgbClr val="2DE5A0"/>
                </a:solidFill>
                <a:latin typeface="Arial"/>
              </a:rPr>
              <a:t>netweevil · FOSS4G NL 2026</a:t>
            </a:r>
          </a:p>
        </p:txBody>
      </p:sp>
      <p:sp>
        <p:nvSpPr>
          <p:cNvPr id="13" name="TextBox 12"/>
          <p:cNvSpPr txBox="1"/>
          <p:nvPr/>
        </p:nvSpPr>
        <p:spPr>
          <a:xfrm>
            <a:off x="10241280" y="6455664"/>
            <a:ext cx="1280160" cy="365760"/>
          </a:xfrm>
          <a:prstGeom prst="rect">
            <a:avLst/>
          </a:prstGeom>
          <a:noFill/>
        </p:spPr>
        <p:txBody>
          <a:bodyPr wrap="square" lIns="0" rIns="0" tIns="0" bIns="0">
            <a:spAutoFit/>
          </a:bodyPr>
          <a:lstStyle/>
          <a:p>
            <a:pPr algn="r">
              <a:lnSpc>
                <a:spcPct val="112000"/>
              </a:lnSpc>
              <a:spcAft>
                <a:spcPts val="432"/>
              </a:spcAft>
            </a:pPr>
            <a:r>
              <a:rPr sz="1100" b="0" i="0">
                <a:solidFill>
                  <a:srgbClr val="5A687C"/>
                </a:solidFill>
                <a:latin typeface="Arial"/>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394960"/>
            <a:ext cx="3840480" cy="274320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966960" y="-914400"/>
            <a:ext cx="3657600" cy="274320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54480"/>
            <a:ext cx="9144000" cy="365760"/>
          </a:xfrm>
          <a:prstGeom prst="rect">
            <a:avLst/>
          </a:prstGeom>
          <a:noFill/>
        </p:spPr>
        <p:txBody>
          <a:bodyPr wrap="square" lIns="0" rIns="0" tIns="0" bIns="0">
            <a:spAutoFit/>
          </a:bodyPr>
          <a:lstStyle/>
          <a:p>
            <a:pPr algn="l">
              <a:lnSpc>
                <a:spcPct val="112000"/>
              </a:lnSpc>
              <a:spcAft>
                <a:spcPts val="432"/>
              </a:spcAft>
            </a:pPr>
            <a:r>
              <a:rPr sz="1300" b="1" i="0">
                <a:solidFill>
                  <a:srgbClr val="2DE5A0"/>
                </a:solidFill>
                <a:latin typeface="Arial"/>
              </a:rPr>
              <a:t>IN ONE BREATH</a:t>
            </a:r>
          </a:p>
        </p:txBody>
      </p:sp>
      <p:sp>
        <p:nvSpPr>
          <p:cNvPr id="6" name="TextBox 5"/>
          <p:cNvSpPr txBox="1"/>
          <p:nvPr/>
        </p:nvSpPr>
        <p:spPr>
          <a:xfrm>
            <a:off x="658368" y="1920240"/>
            <a:ext cx="10972800" cy="365760"/>
          </a:xfrm>
          <a:prstGeom prst="rect">
            <a:avLst/>
          </a:prstGeom>
          <a:noFill/>
        </p:spPr>
        <p:txBody>
          <a:bodyPr wrap="square" lIns="0" rIns="0" tIns="0" bIns="0">
            <a:spAutoFit/>
          </a:bodyPr>
          <a:lstStyle/>
          <a:p>
            <a:pPr algn="l">
              <a:lnSpc>
                <a:spcPct val="112000"/>
              </a:lnSpc>
              <a:spcAft>
                <a:spcPts val="720"/>
              </a:spcAft>
            </a:pPr>
            <a:r>
              <a:rPr sz="3800" b="1" i="0">
                <a:solidFill>
                  <a:srgbClr val="ECF1F8"/>
                </a:solidFill>
                <a:latin typeface="Arial"/>
              </a:rPr>
              <a:t>Not a product.</a:t>
            </a:r>
          </a:p>
          <a:p>
            <a:pPr algn="l">
              <a:lnSpc>
                <a:spcPct val="112000"/>
              </a:lnSpc>
              <a:spcAft>
                <a:spcPts val="720"/>
              </a:spcAft>
            </a:pPr>
            <a:r>
              <a:rPr sz="3800" b="1" i="0">
                <a:solidFill>
                  <a:srgbClr val="ECF1F8"/>
                </a:solidFill>
                <a:latin typeface="Arial"/>
              </a:rPr>
              <a:t>An instrument.</a:t>
            </a:r>
          </a:p>
        </p:txBody>
      </p:sp>
      <p:sp>
        <p:nvSpPr>
          <p:cNvPr id="7" name="TextBox 6"/>
          <p:cNvSpPr txBox="1"/>
          <p:nvPr/>
        </p:nvSpPr>
        <p:spPr>
          <a:xfrm>
            <a:off x="685800" y="3429000"/>
            <a:ext cx="9875520" cy="365760"/>
          </a:xfrm>
          <a:prstGeom prst="rect">
            <a:avLst/>
          </a:prstGeom>
          <a:noFill/>
        </p:spPr>
        <p:txBody>
          <a:bodyPr wrap="square" lIns="0" rIns="0" tIns="0" bIns="0">
            <a:spAutoFit/>
          </a:bodyPr>
          <a:lstStyle/>
          <a:p>
            <a:pPr algn="l">
              <a:lnSpc>
                <a:spcPct val="125000"/>
              </a:lnSpc>
              <a:spcAft>
                <a:spcPts val="432"/>
              </a:spcAft>
            </a:pPr>
            <a:r>
              <a:rPr sz="1650" b="0" i="0">
                <a:solidFill>
                  <a:srgbClr val="93A2B8"/>
                </a:solidFill>
                <a:latin typeface="Arial"/>
              </a:rPr>
              <a:t>A local engine for the research case: every parameter explainable, every run reproducible, output shaped to the question. Built in days, on top of decades of open source.</a:t>
            </a:r>
          </a:p>
        </p:txBody>
      </p:sp>
      <p:sp>
        <p:nvSpPr>
          <p:cNvPr id="8" name="Rectangle 7"/>
          <p:cNvSpPr/>
          <p:nvPr/>
        </p:nvSpPr>
        <p:spPr>
          <a:xfrm>
            <a:off x="685800" y="4526280"/>
            <a:ext cx="2926080" cy="18288"/>
          </a:xfrm>
          <a:prstGeom prst="rect">
            <a:avLst/>
          </a:prstGeom>
          <a:solidFill>
            <a:srgbClr val="2632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800600"/>
            <a:ext cx="10058400" cy="365760"/>
          </a:xfrm>
          <a:prstGeom prst="rect">
            <a:avLst/>
          </a:prstGeom>
          <a:noFill/>
        </p:spPr>
        <p:txBody>
          <a:bodyPr wrap="square" lIns="0" rIns="0" tIns="0" bIns="0">
            <a:spAutoFit/>
          </a:bodyPr>
          <a:lstStyle/>
          <a:p>
            <a:pPr algn="l">
              <a:lnSpc>
                <a:spcPct val="112000"/>
              </a:lnSpc>
              <a:spcAft>
                <a:spcPts val="432"/>
              </a:spcAft>
            </a:pPr>
            <a:r>
              <a:rPr sz="1400" b="1" i="0">
                <a:solidFill>
                  <a:srgbClr val="ECF1F8"/>
                </a:solidFill>
                <a:latin typeface="Arial"/>
              </a:rPr>
              <a:t>Thank you.  </a:t>
            </a:r>
            <a:r>
              <a:rPr sz="1400" b="0" i="0">
                <a:solidFill>
                  <a:srgbClr val="93A2B8"/>
                </a:solidFill>
                <a:latin typeface="Arial"/>
              </a:rPr>
              <a:t>Questions are the whole point.</a:t>
            </a:r>
          </a:p>
        </p:txBody>
      </p:sp>
      <p:sp>
        <p:nvSpPr>
          <p:cNvPr id="10" name="TextBox 9"/>
          <p:cNvSpPr txBox="1"/>
          <p:nvPr/>
        </p:nvSpPr>
        <p:spPr>
          <a:xfrm>
            <a:off x="685800" y="5623560"/>
            <a:ext cx="7315200" cy="365760"/>
          </a:xfrm>
          <a:prstGeom prst="rect">
            <a:avLst/>
          </a:prstGeom>
          <a:noFill/>
        </p:spPr>
        <p:txBody>
          <a:bodyPr wrap="square" lIns="0" rIns="0" tIns="0" bIns="0">
            <a:spAutoFit/>
          </a:bodyPr>
          <a:lstStyle/>
          <a:p>
            <a:pPr algn="l">
              <a:lnSpc>
                <a:spcPct val="112000"/>
              </a:lnSpc>
              <a:spcAft>
                <a:spcPts val="432"/>
              </a:spcAft>
            </a:pPr>
            <a:r>
              <a:rPr sz="1600" b="1" i="0">
                <a:solidFill>
                  <a:srgbClr val="2DE5A0"/>
                </a:solidFill>
                <a:latin typeface="Arial"/>
              </a:rPr>
              <a:t>netweevil</a:t>
            </a:r>
          </a:p>
        </p:txBody>
      </p:sp>
      <p:sp>
        <p:nvSpPr>
          <p:cNvPr id="11" name="TextBox 10"/>
          <p:cNvSpPr txBox="1"/>
          <p:nvPr/>
        </p:nvSpPr>
        <p:spPr>
          <a:xfrm>
            <a:off x="685800" y="5925312"/>
            <a:ext cx="9144000" cy="365760"/>
          </a:xfrm>
          <a:prstGeom prst="rect">
            <a:avLst/>
          </a:prstGeom>
          <a:noFill/>
        </p:spPr>
        <p:txBody>
          <a:bodyPr wrap="square" lIns="0" rIns="0" tIns="0" bIns="0">
            <a:spAutoFit/>
          </a:bodyPr>
          <a:lstStyle/>
          <a:p>
            <a:pPr algn="l">
              <a:lnSpc>
                <a:spcPct val="112000"/>
              </a:lnSpc>
              <a:spcAft>
                <a:spcPts val="432"/>
              </a:spcAft>
            </a:pPr>
            <a:r>
              <a:rPr sz="1150" b="0" i="0">
                <a:solidFill>
                  <a:srgbClr val="5A687C"/>
                </a:solidFill>
                <a:latin typeface="Arial"/>
              </a:rPr>
              <a:t>Elmeri Niemi · Geo Consultant, Geodienst · FOSS4G NL 2026</a:t>
            </a:r>
          </a:p>
          <a:p>
            <a:pPr algn="l">
              <a:lnSpc>
                <a:spcPct val="112000"/>
              </a:lnSpc>
              <a:spcAft>
                <a:spcPts val="432"/>
              </a:spcAft>
            </a:pPr>
            <a:r>
              <a:rPr sz="1150" b="0" i="0">
                <a:solidFill>
                  <a:srgbClr val="5A687C"/>
                </a:solidFill>
                <a:latin typeface="Arial"/>
              </a:rPr>
              <a:t>elmeri.niemi@gmail.com · o.e.niem@rug.nl · me@elmeriniemi.com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